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8288000" cy="10287000"/>
  <p:notesSz cx="6858000" cy="9144000"/>
  <p:embeddedFontLst>
    <p:embeddedFont>
      <p:font typeface="Luktao Bold" panose="020B0604020202020204" charset="-34"/>
      <p:regular r:id="rId18"/>
    </p:embeddedFont>
    <p:embeddedFont>
      <p:font typeface="Nourd" panose="020B0604020202020204" charset="0"/>
      <p:regular r:id="rId19"/>
    </p:embeddedFont>
    <p:embeddedFont>
      <p:font typeface="Nourd Bold" panose="020B0604020202020204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8" d="100"/>
          <a:sy n="48" d="100"/>
        </p:scale>
        <p:origin x="1363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10.svg"/><Relationship Id="rId5" Type="http://schemas.openxmlformats.org/officeDocument/2006/relationships/image" Target="../media/image4.pn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4" Type="http://schemas.openxmlformats.org/officeDocument/2006/relationships/image" Target="../media/image3.sv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4.pn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5.sv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4.pn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5.sv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4.pn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5.sv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4.pn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5.svg"/><Relationship Id="rId9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5.svg"/><Relationship Id="rId7" Type="http://schemas.openxmlformats.org/officeDocument/2006/relationships/image" Target="../media/image10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14.svg"/><Relationship Id="rId5" Type="http://schemas.openxmlformats.org/officeDocument/2006/relationships/image" Target="../media/image8.sv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5.svg"/><Relationship Id="rId7" Type="http://schemas.openxmlformats.org/officeDocument/2006/relationships/image" Target="../media/image10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14.svg"/><Relationship Id="rId5" Type="http://schemas.openxmlformats.org/officeDocument/2006/relationships/image" Target="../media/image8.sv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5.svg"/><Relationship Id="rId7" Type="http://schemas.openxmlformats.org/officeDocument/2006/relationships/image" Target="../media/image10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14.svg"/><Relationship Id="rId5" Type="http://schemas.openxmlformats.org/officeDocument/2006/relationships/image" Target="../media/image8.sv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5.svg"/><Relationship Id="rId7" Type="http://schemas.openxmlformats.org/officeDocument/2006/relationships/image" Target="../media/image10.svg"/><Relationship Id="rId12" Type="http://schemas.openxmlformats.org/officeDocument/2006/relationships/image" Target="../media/image20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14.svg"/><Relationship Id="rId5" Type="http://schemas.openxmlformats.org/officeDocument/2006/relationships/image" Target="../media/image8.sv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5.svg"/><Relationship Id="rId7" Type="http://schemas.openxmlformats.org/officeDocument/2006/relationships/image" Target="../media/image10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14.svg"/><Relationship Id="rId5" Type="http://schemas.openxmlformats.org/officeDocument/2006/relationships/image" Target="../media/image8.sv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5.svg"/><Relationship Id="rId7" Type="http://schemas.openxmlformats.org/officeDocument/2006/relationships/image" Target="../media/image10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14.svg"/><Relationship Id="rId5" Type="http://schemas.openxmlformats.org/officeDocument/2006/relationships/image" Target="../media/image8.sv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144000" y="-2201124"/>
            <a:ext cx="11772900" cy="6143313"/>
          </a:xfrm>
          <a:custGeom>
            <a:avLst/>
            <a:gdLst/>
            <a:ahLst/>
            <a:cxnLst/>
            <a:rect l="l" t="t" r="r" b="b"/>
            <a:pathLst>
              <a:path w="11772900" h="6143313">
                <a:moveTo>
                  <a:pt x="0" y="0"/>
                </a:moveTo>
                <a:lnTo>
                  <a:pt x="11772900" y="0"/>
                </a:lnTo>
                <a:lnTo>
                  <a:pt x="11772900" y="6143314"/>
                </a:lnTo>
                <a:lnTo>
                  <a:pt x="0" y="61433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5514975" y="6838101"/>
            <a:ext cx="11772900" cy="6143313"/>
          </a:xfrm>
          <a:custGeom>
            <a:avLst/>
            <a:gdLst/>
            <a:ahLst/>
            <a:cxnLst/>
            <a:rect l="l" t="t" r="r" b="b"/>
            <a:pathLst>
              <a:path w="11772900" h="6143313">
                <a:moveTo>
                  <a:pt x="0" y="0"/>
                </a:moveTo>
                <a:lnTo>
                  <a:pt x="11772900" y="0"/>
                </a:lnTo>
                <a:lnTo>
                  <a:pt x="11772900" y="6143314"/>
                </a:lnTo>
                <a:lnTo>
                  <a:pt x="0" y="61433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41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6787586" y="548601"/>
            <a:ext cx="5431128" cy="1446887"/>
          </a:xfrm>
          <a:custGeom>
            <a:avLst/>
            <a:gdLst/>
            <a:ahLst/>
            <a:cxnLst/>
            <a:rect l="l" t="t" r="r" b="b"/>
            <a:pathLst>
              <a:path w="5431128" h="1446887">
                <a:moveTo>
                  <a:pt x="0" y="0"/>
                </a:moveTo>
                <a:lnTo>
                  <a:pt x="5431129" y="0"/>
                </a:lnTo>
                <a:lnTo>
                  <a:pt x="5431129" y="1446886"/>
                </a:lnTo>
                <a:lnTo>
                  <a:pt x="0" y="144688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5355372" y="1909762"/>
            <a:ext cx="8295557" cy="7244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21"/>
              </a:lnSpc>
            </a:pPr>
            <a:r>
              <a:rPr lang="en-US" sz="4229">
                <a:solidFill>
                  <a:srgbClr val="16436A"/>
                </a:solidFill>
                <a:latin typeface="Nourd"/>
                <a:ea typeface="Nourd"/>
                <a:cs typeface="Nourd"/>
                <a:sym typeface="Nourd"/>
              </a:rPr>
              <a:t>Design Laboratory - II (ME306)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18601" y="2701721"/>
            <a:ext cx="16850799" cy="2078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89"/>
              </a:lnSpc>
            </a:pPr>
            <a:r>
              <a:rPr lang="en-US" sz="5992" b="1">
                <a:solidFill>
                  <a:srgbClr val="16436A"/>
                </a:solidFill>
                <a:latin typeface="Luktao Bold"/>
                <a:ea typeface="Luktao Bold"/>
                <a:cs typeface="Luktao Bold"/>
                <a:sym typeface="Luktao Bold"/>
              </a:rPr>
              <a:t>WAVE ENERGY CONVERTER CONTROL SYSTEM WITH VIBRATION AND MECHANICAL CONTROL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71475" y="6477898"/>
            <a:ext cx="7927893" cy="48560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21"/>
              </a:lnSpc>
            </a:pPr>
            <a:r>
              <a:rPr lang="en-US" sz="2800" dirty="0">
                <a:solidFill>
                  <a:srgbClr val="16436A"/>
                </a:solidFill>
                <a:latin typeface="Nourd"/>
                <a:ea typeface="Nourd"/>
                <a:cs typeface="Nourd"/>
                <a:sym typeface="Nourd"/>
              </a:rPr>
              <a:t>Presented By - </a:t>
            </a:r>
          </a:p>
          <a:p>
            <a:pPr algn="l">
              <a:lnSpc>
                <a:spcPts val="4821"/>
              </a:lnSpc>
            </a:pPr>
            <a:r>
              <a:rPr lang="en-US" sz="2800" dirty="0">
                <a:solidFill>
                  <a:srgbClr val="16436A"/>
                </a:solidFill>
                <a:latin typeface="Nourd"/>
                <a:ea typeface="Nourd"/>
                <a:cs typeface="Nourd"/>
                <a:sym typeface="Nourd"/>
              </a:rPr>
              <a:t>Ankur Singh (2022MEB1298)</a:t>
            </a:r>
          </a:p>
          <a:p>
            <a:pPr algn="l">
              <a:lnSpc>
                <a:spcPts val="4821"/>
              </a:lnSpc>
            </a:pPr>
            <a:r>
              <a:rPr lang="en-US" sz="2800" dirty="0">
                <a:solidFill>
                  <a:srgbClr val="16436A"/>
                </a:solidFill>
                <a:latin typeface="Nourd"/>
                <a:ea typeface="Nourd"/>
                <a:cs typeface="Nourd"/>
                <a:sym typeface="Nourd"/>
              </a:rPr>
              <a:t>Arnav Maitreya (2022MEB1299)</a:t>
            </a:r>
          </a:p>
          <a:p>
            <a:pPr algn="l">
              <a:lnSpc>
                <a:spcPts val="4821"/>
              </a:lnSpc>
            </a:pPr>
            <a:r>
              <a:rPr lang="en-US" sz="2800" dirty="0">
                <a:solidFill>
                  <a:srgbClr val="16436A"/>
                </a:solidFill>
                <a:latin typeface="Nourd"/>
                <a:ea typeface="Nourd"/>
                <a:cs typeface="Nourd"/>
                <a:sym typeface="Nourd"/>
              </a:rPr>
              <a:t>Akshat Srivastava (2022MEB1294)</a:t>
            </a:r>
          </a:p>
          <a:p>
            <a:pPr algn="l">
              <a:lnSpc>
                <a:spcPts val="4821"/>
              </a:lnSpc>
            </a:pPr>
            <a:r>
              <a:rPr lang="en-US" sz="2800" dirty="0" err="1">
                <a:solidFill>
                  <a:srgbClr val="16436A"/>
                </a:solidFill>
                <a:latin typeface="Nourd"/>
                <a:ea typeface="Nourd"/>
                <a:cs typeface="Nourd"/>
                <a:sym typeface="Nourd"/>
              </a:rPr>
              <a:t>Ainala</a:t>
            </a:r>
            <a:r>
              <a:rPr lang="en-US" sz="2800" dirty="0">
                <a:solidFill>
                  <a:srgbClr val="16436A"/>
                </a:solidFill>
                <a:latin typeface="Nourd"/>
                <a:ea typeface="Nourd"/>
                <a:cs typeface="Nourd"/>
                <a:sym typeface="Nourd"/>
              </a:rPr>
              <a:t> </a:t>
            </a:r>
            <a:r>
              <a:rPr lang="en-US" sz="2800" dirty="0" err="1">
                <a:solidFill>
                  <a:srgbClr val="16436A"/>
                </a:solidFill>
                <a:latin typeface="Nourd"/>
                <a:ea typeface="Nourd"/>
                <a:cs typeface="Nourd"/>
                <a:sym typeface="Nourd"/>
              </a:rPr>
              <a:t>Kannaiah</a:t>
            </a:r>
            <a:r>
              <a:rPr lang="en-US" sz="2800" dirty="0">
                <a:solidFill>
                  <a:srgbClr val="16436A"/>
                </a:solidFill>
                <a:latin typeface="Nourd"/>
                <a:ea typeface="Nourd"/>
                <a:cs typeface="Nourd"/>
                <a:sym typeface="Nourd"/>
              </a:rPr>
              <a:t> (2022MEB1292)</a:t>
            </a:r>
          </a:p>
          <a:p>
            <a:pPr algn="l">
              <a:lnSpc>
                <a:spcPts val="4821"/>
              </a:lnSpc>
            </a:pPr>
            <a:r>
              <a:rPr lang="en-US" sz="2800" dirty="0">
                <a:solidFill>
                  <a:srgbClr val="16436A"/>
                </a:solidFill>
                <a:latin typeface="Nourd"/>
                <a:ea typeface="Nourd"/>
                <a:cs typeface="Nourd"/>
                <a:sym typeface="Nourd"/>
              </a:rPr>
              <a:t>Akshat Pathak (2022MEB1293)</a:t>
            </a:r>
          </a:p>
          <a:p>
            <a:pPr algn="l">
              <a:lnSpc>
                <a:spcPts val="4821"/>
              </a:lnSpc>
            </a:pPr>
            <a:endParaRPr lang="en-US" sz="3443" dirty="0">
              <a:solidFill>
                <a:srgbClr val="16436A"/>
              </a:solidFill>
              <a:latin typeface="Nourd"/>
              <a:ea typeface="Nourd"/>
              <a:cs typeface="Nourd"/>
              <a:sym typeface="Nourd"/>
            </a:endParaRPr>
          </a:p>
          <a:p>
            <a:pPr algn="l">
              <a:lnSpc>
                <a:spcPts val="4821"/>
              </a:lnSpc>
            </a:pPr>
            <a:endParaRPr lang="en-US" sz="3443" dirty="0">
              <a:solidFill>
                <a:srgbClr val="16436A"/>
              </a:solidFill>
              <a:latin typeface="Nourd"/>
              <a:ea typeface="Nourd"/>
              <a:cs typeface="Nourd"/>
              <a:sym typeface="Nour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7252496" y="5086350"/>
            <a:ext cx="5733425" cy="2314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37"/>
              </a:lnSpc>
            </a:pPr>
            <a:r>
              <a:rPr lang="en-US" sz="3312" dirty="0">
                <a:solidFill>
                  <a:srgbClr val="16436A"/>
                </a:solidFill>
                <a:latin typeface="Nourd"/>
                <a:ea typeface="Nourd"/>
                <a:cs typeface="Nourd"/>
                <a:sym typeface="Nourd"/>
              </a:rPr>
              <a:t>Supervised by: </a:t>
            </a:r>
          </a:p>
          <a:p>
            <a:pPr algn="ctr">
              <a:lnSpc>
                <a:spcPts val="4637"/>
              </a:lnSpc>
            </a:pPr>
            <a:r>
              <a:rPr lang="en-US" sz="3312" dirty="0">
                <a:solidFill>
                  <a:srgbClr val="16436A"/>
                </a:solidFill>
                <a:latin typeface="Nourd"/>
                <a:ea typeface="Nourd"/>
                <a:cs typeface="Nourd"/>
                <a:sym typeface="Nourd"/>
              </a:rPr>
              <a:t>Jitendra Prasad</a:t>
            </a:r>
            <a:br>
              <a:rPr lang="en-US" sz="3312" dirty="0">
                <a:solidFill>
                  <a:srgbClr val="16436A"/>
                </a:solidFill>
                <a:latin typeface="Nourd"/>
                <a:ea typeface="Nourd"/>
                <a:cs typeface="Nourd"/>
                <a:sym typeface="Nourd"/>
              </a:rPr>
            </a:br>
            <a:r>
              <a:rPr lang="en-US" sz="3312" dirty="0">
                <a:solidFill>
                  <a:srgbClr val="16436A"/>
                </a:solidFill>
                <a:latin typeface="Nourd"/>
                <a:ea typeface="Nourd"/>
                <a:cs typeface="Nourd"/>
                <a:sym typeface="Nourd"/>
              </a:rPr>
              <a:t>Srikant Sekhar </a:t>
            </a:r>
            <a:r>
              <a:rPr lang="en-US" sz="3312" dirty="0" err="1">
                <a:solidFill>
                  <a:srgbClr val="16436A"/>
                </a:solidFill>
                <a:latin typeface="Nourd"/>
                <a:ea typeface="Nourd"/>
                <a:cs typeface="Nourd"/>
                <a:sym typeface="Nourd"/>
              </a:rPr>
              <a:t>Padhee</a:t>
            </a:r>
            <a:endParaRPr lang="en-US" sz="3312" dirty="0">
              <a:solidFill>
                <a:srgbClr val="16436A"/>
              </a:solidFill>
              <a:latin typeface="Nourd"/>
              <a:ea typeface="Nourd"/>
              <a:cs typeface="Nourd"/>
              <a:sym typeface="Nourd"/>
            </a:endParaRPr>
          </a:p>
          <a:p>
            <a:pPr algn="ctr">
              <a:lnSpc>
                <a:spcPts val="4637"/>
              </a:lnSpc>
            </a:pPr>
            <a:endParaRPr lang="en-US" sz="3312" dirty="0">
              <a:solidFill>
                <a:srgbClr val="16436A"/>
              </a:solidFill>
              <a:latin typeface="Nourd"/>
              <a:ea typeface="Nourd"/>
              <a:cs typeface="Nourd"/>
              <a:sym typeface="Nourd"/>
            </a:endParaRPr>
          </a:p>
        </p:txBody>
      </p:sp>
      <p:sp>
        <p:nvSpPr>
          <p:cNvPr id="10" name="Freeform 10"/>
          <p:cNvSpPr/>
          <p:nvPr/>
        </p:nvSpPr>
        <p:spPr>
          <a:xfrm>
            <a:off x="15201900" y="6838101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flipH="1" flipV="1">
            <a:off x="-819150" y="-1605811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5201900" y="7236961"/>
            <a:ext cx="2174081" cy="2174081"/>
          </a:xfrm>
          <a:custGeom>
            <a:avLst/>
            <a:gdLst/>
            <a:ahLst/>
            <a:cxnLst/>
            <a:rect l="l" t="t" r="r" b="b"/>
            <a:pathLst>
              <a:path w="2174081" h="2174081">
                <a:moveTo>
                  <a:pt x="0" y="0"/>
                </a:moveTo>
                <a:lnTo>
                  <a:pt x="2174081" y="0"/>
                </a:lnTo>
                <a:lnTo>
                  <a:pt x="2174081" y="2174081"/>
                </a:lnTo>
                <a:lnTo>
                  <a:pt x="0" y="217408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604698" y="650011"/>
            <a:ext cx="2690952" cy="1345476"/>
          </a:xfrm>
          <a:custGeom>
            <a:avLst/>
            <a:gdLst/>
            <a:ahLst/>
            <a:cxnLst/>
            <a:rect l="l" t="t" r="r" b="b"/>
            <a:pathLst>
              <a:path w="2690952" h="1345476">
                <a:moveTo>
                  <a:pt x="0" y="0"/>
                </a:moveTo>
                <a:lnTo>
                  <a:pt x="2690952" y="0"/>
                </a:lnTo>
                <a:lnTo>
                  <a:pt x="2690952" y="1345476"/>
                </a:lnTo>
                <a:lnTo>
                  <a:pt x="0" y="134547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909383" y="-3031307"/>
            <a:ext cx="11772900" cy="6143313"/>
          </a:xfrm>
          <a:custGeom>
            <a:avLst/>
            <a:gdLst/>
            <a:ahLst/>
            <a:cxnLst/>
            <a:rect l="l" t="t" r="r" b="b"/>
            <a:pathLst>
              <a:path w="11772900" h="6143313">
                <a:moveTo>
                  <a:pt x="0" y="0"/>
                </a:moveTo>
                <a:lnTo>
                  <a:pt x="11772900" y="0"/>
                </a:lnTo>
                <a:lnTo>
                  <a:pt x="11772900" y="6143313"/>
                </a:lnTo>
                <a:lnTo>
                  <a:pt x="0" y="61433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201900" y="6838101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 flipV="1">
            <a:off x="-819150" y="-1605811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837591" y="2946148"/>
            <a:ext cx="13231160" cy="62073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64311" lvl="1" indent="-382156" algn="l">
              <a:lnSpc>
                <a:spcPts val="4956"/>
              </a:lnSpc>
              <a:buFont typeface="Arial"/>
              <a:buChar char="•"/>
            </a:pPr>
            <a:r>
              <a:rPr lang="en-US" sz="3540">
                <a:solidFill>
                  <a:srgbClr val="0166C2"/>
                </a:solidFill>
                <a:latin typeface="Nourd"/>
                <a:ea typeface="Nourd"/>
                <a:cs typeface="Nourd"/>
                <a:sym typeface="Nourd"/>
              </a:rPr>
              <a:t>To simulate and analyze a point-absorber Wave Energy Converter (WEC) for efficient wave energy harvesting.</a:t>
            </a:r>
          </a:p>
          <a:p>
            <a:pPr marL="764311" lvl="1" indent="-382156" algn="l">
              <a:lnSpc>
                <a:spcPts val="4956"/>
              </a:lnSpc>
              <a:buFont typeface="Arial"/>
              <a:buChar char="•"/>
            </a:pPr>
            <a:r>
              <a:rPr lang="en-US" sz="3540">
                <a:solidFill>
                  <a:srgbClr val="0166C2"/>
                </a:solidFill>
                <a:latin typeface="Nourd"/>
                <a:ea typeface="Nourd"/>
                <a:cs typeface="Nourd"/>
                <a:sym typeface="Nourd"/>
              </a:rPr>
              <a:t>Implement a vibration-based control strategy using a PID controller to stabilize and enhance energy conversion.</a:t>
            </a:r>
          </a:p>
          <a:p>
            <a:pPr marL="764311" lvl="1" indent="-382156" algn="l">
              <a:lnSpc>
                <a:spcPts val="4956"/>
              </a:lnSpc>
              <a:buFont typeface="Arial"/>
              <a:buChar char="•"/>
            </a:pPr>
            <a:r>
              <a:rPr lang="en-US" sz="3540">
                <a:solidFill>
                  <a:srgbClr val="0166C2"/>
                </a:solidFill>
                <a:latin typeface="Nourd"/>
                <a:ea typeface="Nourd"/>
                <a:cs typeface="Nourd"/>
                <a:sym typeface="Nourd"/>
              </a:rPr>
              <a:t>Employ machine learning to predict optimal PID values for maximum power generation.</a:t>
            </a:r>
          </a:p>
          <a:p>
            <a:pPr marL="764311" lvl="1" indent="-382156" algn="l">
              <a:lnSpc>
                <a:spcPts val="4956"/>
              </a:lnSpc>
              <a:buFont typeface="Arial"/>
              <a:buChar char="•"/>
            </a:pPr>
            <a:r>
              <a:rPr lang="en-US" sz="3540">
                <a:solidFill>
                  <a:srgbClr val="0166C2"/>
                </a:solidFill>
                <a:latin typeface="Nourd"/>
                <a:ea typeface="Nourd"/>
                <a:cs typeface="Nourd"/>
                <a:sym typeface="Nourd"/>
              </a:rPr>
              <a:t>Validate system performance using Simulink and Simscape simulations.</a:t>
            </a:r>
          </a:p>
          <a:p>
            <a:pPr algn="l">
              <a:lnSpc>
                <a:spcPts val="4956"/>
              </a:lnSpc>
            </a:pPr>
            <a:endParaRPr lang="en-US" sz="3540">
              <a:solidFill>
                <a:srgbClr val="0166C2"/>
              </a:solidFill>
              <a:latin typeface="Nourd"/>
              <a:ea typeface="Nourd"/>
              <a:cs typeface="Nourd"/>
              <a:sym typeface="Nourd"/>
            </a:endParaRPr>
          </a:p>
          <a:p>
            <a:pPr algn="l">
              <a:lnSpc>
                <a:spcPts val="4956"/>
              </a:lnSpc>
            </a:pPr>
            <a:endParaRPr lang="en-US" sz="3540">
              <a:solidFill>
                <a:srgbClr val="0166C2"/>
              </a:solidFill>
              <a:latin typeface="Nourd"/>
              <a:ea typeface="Nourd"/>
              <a:cs typeface="Nourd"/>
              <a:sym typeface="Nourd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-5749592" y="6007918"/>
            <a:ext cx="11772900" cy="6143313"/>
          </a:xfrm>
          <a:custGeom>
            <a:avLst/>
            <a:gdLst/>
            <a:ahLst/>
            <a:cxnLst/>
            <a:rect l="l" t="t" r="r" b="b"/>
            <a:pathLst>
              <a:path w="11772900" h="6143313">
                <a:moveTo>
                  <a:pt x="0" y="0"/>
                </a:moveTo>
                <a:lnTo>
                  <a:pt x="11772900" y="0"/>
                </a:lnTo>
                <a:lnTo>
                  <a:pt x="11772900" y="6143313"/>
                </a:lnTo>
                <a:lnTo>
                  <a:pt x="0" y="61433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5201900" y="7236961"/>
            <a:ext cx="2174081" cy="2174081"/>
          </a:xfrm>
          <a:custGeom>
            <a:avLst/>
            <a:gdLst/>
            <a:ahLst/>
            <a:cxnLst/>
            <a:rect l="l" t="t" r="r" b="b"/>
            <a:pathLst>
              <a:path w="2174081" h="2174081">
                <a:moveTo>
                  <a:pt x="0" y="0"/>
                </a:moveTo>
                <a:lnTo>
                  <a:pt x="2174081" y="0"/>
                </a:lnTo>
                <a:lnTo>
                  <a:pt x="2174081" y="2174081"/>
                </a:lnTo>
                <a:lnTo>
                  <a:pt x="0" y="217408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604698" y="650011"/>
            <a:ext cx="2690952" cy="1345476"/>
          </a:xfrm>
          <a:custGeom>
            <a:avLst/>
            <a:gdLst/>
            <a:ahLst/>
            <a:cxnLst/>
            <a:rect l="l" t="t" r="r" b="b"/>
            <a:pathLst>
              <a:path w="2690952" h="1345476">
                <a:moveTo>
                  <a:pt x="0" y="0"/>
                </a:moveTo>
                <a:lnTo>
                  <a:pt x="2690952" y="0"/>
                </a:lnTo>
                <a:lnTo>
                  <a:pt x="2690952" y="1345476"/>
                </a:lnTo>
                <a:lnTo>
                  <a:pt x="0" y="134547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3924424" y="478561"/>
            <a:ext cx="9987683" cy="1558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780"/>
              </a:lnSpc>
            </a:pPr>
            <a:r>
              <a:rPr lang="en-US" sz="9129" b="1">
                <a:solidFill>
                  <a:srgbClr val="0166C2"/>
                </a:solidFill>
                <a:latin typeface="Luktao Bold"/>
                <a:ea typeface="Luktao Bold"/>
                <a:cs typeface="Luktao Bold"/>
                <a:sym typeface="Luktao Bold"/>
              </a:rPr>
              <a:t>OBJECTIVE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909383" y="-3031307"/>
            <a:ext cx="11772900" cy="6143313"/>
          </a:xfrm>
          <a:custGeom>
            <a:avLst/>
            <a:gdLst/>
            <a:ahLst/>
            <a:cxnLst/>
            <a:rect l="l" t="t" r="r" b="b"/>
            <a:pathLst>
              <a:path w="11772900" h="6143313">
                <a:moveTo>
                  <a:pt x="0" y="0"/>
                </a:moveTo>
                <a:lnTo>
                  <a:pt x="11772900" y="0"/>
                </a:lnTo>
                <a:lnTo>
                  <a:pt x="11772900" y="6143313"/>
                </a:lnTo>
                <a:lnTo>
                  <a:pt x="0" y="61433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201900" y="6838101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 flipV="1">
            <a:off x="-819150" y="-1605811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5749592" y="6007918"/>
            <a:ext cx="11772900" cy="6143313"/>
          </a:xfrm>
          <a:custGeom>
            <a:avLst/>
            <a:gdLst/>
            <a:ahLst/>
            <a:cxnLst/>
            <a:rect l="l" t="t" r="r" b="b"/>
            <a:pathLst>
              <a:path w="11772900" h="6143313">
                <a:moveTo>
                  <a:pt x="0" y="0"/>
                </a:moveTo>
                <a:lnTo>
                  <a:pt x="11772900" y="0"/>
                </a:lnTo>
                <a:lnTo>
                  <a:pt x="11772900" y="6143313"/>
                </a:lnTo>
                <a:lnTo>
                  <a:pt x="0" y="61433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836942" y="2069126"/>
            <a:ext cx="12364958" cy="8086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29768" lvl="1" indent="-414884" algn="l">
              <a:lnSpc>
                <a:spcPts val="5380"/>
              </a:lnSpc>
              <a:buFont typeface="Arial"/>
              <a:buChar char="•"/>
            </a:pPr>
            <a:r>
              <a:rPr lang="en-US" sz="3843">
                <a:solidFill>
                  <a:srgbClr val="0166C2"/>
                </a:solidFill>
                <a:latin typeface="Nourd"/>
                <a:ea typeface="Nourd"/>
                <a:cs typeface="Nourd"/>
                <a:sym typeface="Nourd"/>
              </a:rPr>
              <a:t>The project focuses on energy extraction from sinusoidal ocean waves using a mechanical oscillator.</a:t>
            </a:r>
          </a:p>
          <a:p>
            <a:pPr marL="829768" lvl="1" indent="-414884" algn="l">
              <a:lnSpc>
                <a:spcPts val="5380"/>
              </a:lnSpc>
              <a:buFont typeface="Arial"/>
              <a:buChar char="•"/>
            </a:pPr>
            <a:r>
              <a:rPr lang="en-US" sz="3843">
                <a:solidFill>
                  <a:srgbClr val="0166C2"/>
                </a:solidFill>
                <a:latin typeface="Nourd"/>
                <a:ea typeface="Nourd"/>
                <a:cs typeface="Nourd"/>
                <a:sym typeface="Nourd"/>
              </a:rPr>
              <a:t>A PID controller is tuned to control the damping force, influencing the WEC’s displacement and velocity.</a:t>
            </a:r>
          </a:p>
          <a:p>
            <a:pPr marL="829768" lvl="1" indent="-414884" algn="l">
              <a:lnSpc>
                <a:spcPts val="5380"/>
              </a:lnSpc>
              <a:buFont typeface="Arial"/>
              <a:buChar char="•"/>
            </a:pPr>
            <a:r>
              <a:rPr lang="en-US" sz="3843">
                <a:solidFill>
                  <a:srgbClr val="0166C2"/>
                </a:solidFill>
                <a:latin typeface="Nourd"/>
                <a:ea typeface="Nourd"/>
                <a:cs typeface="Nourd"/>
                <a:sym typeface="Nourd"/>
              </a:rPr>
              <a:t>ML is used to learn the relationship between PID parameters and resulting power output, enabling optimization.</a:t>
            </a:r>
          </a:p>
          <a:p>
            <a:pPr marL="829768" lvl="1" indent="-414884" algn="l">
              <a:lnSpc>
                <a:spcPts val="5380"/>
              </a:lnSpc>
              <a:buFont typeface="Arial"/>
              <a:buChar char="•"/>
            </a:pPr>
            <a:r>
              <a:rPr lang="en-US" sz="3843">
                <a:solidFill>
                  <a:srgbClr val="0166C2"/>
                </a:solidFill>
                <a:latin typeface="Nourd"/>
                <a:ea typeface="Nourd"/>
                <a:cs typeface="Nourd"/>
                <a:sym typeface="Nourd"/>
              </a:rPr>
              <a:t>Data for ML training is obtained through systematic PID sweeps in simulation.</a:t>
            </a:r>
          </a:p>
          <a:p>
            <a:pPr algn="l">
              <a:lnSpc>
                <a:spcPts val="5380"/>
              </a:lnSpc>
            </a:pPr>
            <a:endParaRPr lang="en-US" sz="3843">
              <a:solidFill>
                <a:srgbClr val="0166C2"/>
              </a:solidFill>
              <a:latin typeface="Nourd"/>
              <a:ea typeface="Nourd"/>
              <a:cs typeface="Nourd"/>
              <a:sym typeface="Nourd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15201900" y="7236961"/>
            <a:ext cx="2174081" cy="2174081"/>
          </a:xfrm>
          <a:custGeom>
            <a:avLst/>
            <a:gdLst/>
            <a:ahLst/>
            <a:cxnLst/>
            <a:rect l="l" t="t" r="r" b="b"/>
            <a:pathLst>
              <a:path w="2174081" h="2174081">
                <a:moveTo>
                  <a:pt x="0" y="0"/>
                </a:moveTo>
                <a:lnTo>
                  <a:pt x="2174081" y="0"/>
                </a:lnTo>
                <a:lnTo>
                  <a:pt x="2174081" y="2174081"/>
                </a:lnTo>
                <a:lnTo>
                  <a:pt x="0" y="217408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604698" y="650011"/>
            <a:ext cx="2690952" cy="1345476"/>
          </a:xfrm>
          <a:custGeom>
            <a:avLst/>
            <a:gdLst/>
            <a:ahLst/>
            <a:cxnLst/>
            <a:rect l="l" t="t" r="r" b="b"/>
            <a:pathLst>
              <a:path w="2690952" h="1345476">
                <a:moveTo>
                  <a:pt x="0" y="0"/>
                </a:moveTo>
                <a:lnTo>
                  <a:pt x="2690952" y="0"/>
                </a:lnTo>
                <a:lnTo>
                  <a:pt x="2690952" y="1345476"/>
                </a:lnTo>
                <a:lnTo>
                  <a:pt x="0" y="134547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3632364" y="478561"/>
            <a:ext cx="12859610" cy="1558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780"/>
              </a:lnSpc>
            </a:pPr>
            <a:r>
              <a:rPr lang="en-US" sz="9129" b="1">
                <a:solidFill>
                  <a:srgbClr val="0166C2"/>
                </a:solidFill>
                <a:latin typeface="Luktao Bold"/>
                <a:ea typeface="Luktao Bold"/>
                <a:cs typeface="Luktao Bold"/>
                <a:sym typeface="Luktao Bold"/>
              </a:rPr>
              <a:t>PROJECT OVERVIEW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909383" y="-3031307"/>
            <a:ext cx="11772900" cy="6143313"/>
          </a:xfrm>
          <a:custGeom>
            <a:avLst/>
            <a:gdLst/>
            <a:ahLst/>
            <a:cxnLst/>
            <a:rect l="l" t="t" r="r" b="b"/>
            <a:pathLst>
              <a:path w="11772900" h="6143313">
                <a:moveTo>
                  <a:pt x="0" y="0"/>
                </a:moveTo>
                <a:lnTo>
                  <a:pt x="11772900" y="0"/>
                </a:lnTo>
                <a:lnTo>
                  <a:pt x="11772900" y="6143313"/>
                </a:lnTo>
                <a:lnTo>
                  <a:pt x="0" y="61433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201900" y="6838101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 flipV="1">
            <a:off x="-819150" y="-1605811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5749592" y="6007918"/>
            <a:ext cx="11772900" cy="6143313"/>
          </a:xfrm>
          <a:custGeom>
            <a:avLst/>
            <a:gdLst/>
            <a:ahLst/>
            <a:cxnLst/>
            <a:rect l="l" t="t" r="r" b="b"/>
            <a:pathLst>
              <a:path w="11772900" h="6143313">
                <a:moveTo>
                  <a:pt x="0" y="0"/>
                </a:moveTo>
                <a:lnTo>
                  <a:pt x="11772900" y="0"/>
                </a:lnTo>
                <a:lnTo>
                  <a:pt x="11772900" y="6143313"/>
                </a:lnTo>
                <a:lnTo>
                  <a:pt x="0" y="61433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534642" y="2081730"/>
            <a:ext cx="12364958" cy="6056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29768" lvl="1" indent="-414884" algn="l">
              <a:lnSpc>
                <a:spcPts val="5380"/>
              </a:lnSpc>
              <a:buFont typeface="Arial"/>
              <a:buChar char="•"/>
            </a:pPr>
            <a:r>
              <a:rPr lang="en-US" sz="3843">
                <a:solidFill>
                  <a:srgbClr val="0166C2"/>
                </a:solidFill>
                <a:latin typeface="Nourd"/>
                <a:ea typeface="Nourd"/>
                <a:cs typeface="Nourd"/>
                <a:sym typeface="Nourd"/>
              </a:rPr>
              <a:t>WEC modeled as a mass-spring-damper system influenced by wave-induced sinusoidal forces.</a:t>
            </a:r>
          </a:p>
          <a:p>
            <a:pPr marL="829768" lvl="1" indent="-414884" algn="l">
              <a:lnSpc>
                <a:spcPts val="5380"/>
              </a:lnSpc>
              <a:buFont typeface="Arial"/>
              <a:buChar char="•"/>
            </a:pPr>
            <a:r>
              <a:rPr lang="en-US" sz="3843">
                <a:solidFill>
                  <a:srgbClr val="0166C2"/>
                </a:solidFill>
                <a:latin typeface="Nourd"/>
                <a:ea typeface="Nourd"/>
                <a:cs typeface="Nourd"/>
                <a:sym typeface="Nourd"/>
              </a:rPr>
              <a:t>Control signal (from PID) adjusts damping characteristics dynamically.</a:t>
            </a:r>
          </a:p>
          <a:p>
            <a:pPr marL="829768" lvl="1" indent="-414884" algn="l">
              <a:lnSpc>
                <a:spcPts val="5380"/>
              </a:lnSpc>
              <a:buFont typeface="Arial"/>
              <a:buChar char="•"/>
            </a:pPr>
            <a:r>
              <a:rPr lang="en-US" sz="3843">
                <a:solidFill>
                  <a:srgbClr val="0166C2"/>
                </a:solidFill>
                <a:latin typeface="Nourd"/>
                <a:ea typeface="Nourd"/>
                <a:cs typeface="Nourd"/>
                <a:sym typeface="Nourd"/>
              </a:rPr>
              <a:t>The system outputs include displacement, velocity, and instantaneous power.</a:t>
            </a:r>
          </a:p>
          <a:p>
            <a:pPr marL="829768" lvl="1" indent="-414884" algn="l">
              <a:lnSpc>
                <a:spcPts val="5380"/>
              </a:lnSpc>
              <a:buFont typeface="Arial"/>
              <a:buChar char="•"/>
            </a:pPr>
            <a:r>
              <a:rPr lang="en-US" sz="3843">
                <a:solidFill>
                  <a:srgbClr val="0166C2"/>
                </a:solidFill>
                <a:latin typeface="Nourd"/>
                <a:ea typeface="Nourd"/>
                <a:cs typeface="Nourd"/>
                <a:sym typeface="Nourd"/>
              </a:rPr>
              <a:t>Power is computed as the product of force and velocity over time.</a:t>
            </a:r>
          </a:p>
          <a:p>
            <a:pPr algn="l">
              <a:lnSpc>
                <a:spcPts val="5380"/>
              </a:lnSpc>
            </a:pPr>
            <a:endParaRPr lang="en-US" sz="3843">
              <a:solidFill>
                <a:srgbClr val="0166C2"/>
              </a:solidFill>
              <a:latin typeface="Nourd"/>
              <a:ea typeface="Nourd"/>
              <a:cs typeface="Nourd"/>
              <a:sym typeface="Nourd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15201900" y="7236961"/>
            <a:ext cx="2174081" cy="2174081"/>
          </a:xfrm>
          <a:custGeom>
            <a:avLst/>
            <a:gdLst/>
            <a:ahLst/>
            <a:cxnLst/>
            <a:rect l="l" t="t" r="r" b="b"/>
            <a:pathLst>
              <a:path w="2174081" h="2174081">
                <a:moveTo>
                  <a:pt x="0" y="0"/>
                </a:moveTo>
                <a:lnTo>
                  <a:pt x="2174081" y="0"/>
                </a:lnTo>
                <a:lnTo>
                  <a:pt x="2174081" y="2174081"/>
                </a:lnTo>
                <a:lnTo>
                  <a:pt x="0" y="217408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604698" y="650011"/>
            <a:ext cx="2690952" cy="1345476"/>
          </a:xfrm>
          <a:custGeom>
            <a:avLst/>
            <a:gdLst/>
            <a:ahLst/>
            <a:cxnLst/>
            <a:rect l="l" t="t" r="r" b="b"/>
            <a:pathLst>
              <a:path w="2690952" h="1345476">
                <a:moveTo>
                  <a:pt x="0" y="0"/>
                </a:moveTo>
                <a:lnTo>
                  <a:pt x="2690952" y="0"/>
                </a:lnTo>
                <a:lnTo>
                  <a:pt x="2690952" y="1345476"/>
                </a:lnTo>
                <a:lnTo>
                  <a:pt x="0" y="134547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3287316" y="478561"/>
            <a:ext cx="12859610" cy="1558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780"/>
              </a:lnSpc>
            </a:pPr>
            <a:r>
              <a:rPr lang="en-US" sz="9129" b="1">
                <a:solidFill>
                  <a:srgbClr val="0166C2"/>
                </a:solidFill>
                <a:latin typeface="Luktao Bold"/>
                <a:ea typeface="Luktao Bold"/>
                <a:cs typeface="Luktao Bold"/>
                <a:sym typeface="Luktao Bold"/>
              </a:rPr>
              <a:t>SYSTEM MODEL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F375380-0B79-98D9-8DDE-F993740DF3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0400" y="190500"/>
            <a:ext cx="11049000" cy="890903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909383" y="-3031307"/>
            <a:ext cx="11772900" cy="6143313"/>
          </a:xfrm>
          <a:custGeom>
            <a:avLst/>
            <a:gdLst/>
            <a:ahLst/>
            <a:cxnLst/>
            <a:rect l="l" t="t" r="r" b="b"/>
            <a:pathLst>
              <a:path w="11772900" h="6143313">
                <a:moveTo>
                  <a:pt x="0" y="0"/>
                </a:moveTo>
                <a:lnTo>
                  <a:pt x="11772900" y="0"/>
                </a:lnTo>
                <a:lnTo>
                  <a:pt x="11772900" y="6143313"/>
                </a:lnTo>
                <a:lnTo>
                  <a:pt x="0" y="61433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201900" y="6838101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 flipV="1">
            <a:off x="-819150" y="-1605811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5749592" y="6007918"/>
            <a:ext cx="11772900" cy="6143313"/>
          </a:xfrm>
          <a:custGeom>
            <a:avLst/>
            <a:gdLst/>
            <a:ahLst/>
            <a:cxnLst/>
            <a:rect l="l" t="t" r="r" b="b"/>
            <a:pathLst>
              <a:path w="11772900" h="6143313">
                <a:moveTo>
                  <a:pt x="0" y="0"/>
                </a:moveTo>
                <a:lnTo>
                  <a:pt x="11772900" y="0"/>
                </a:lnTo>
                <a:lnTo>
                  <a:pt x="11772900" y="6143313"/>
                </a:lnTo>
                <a:lnTo>
                  <a:pt x="0" y="61433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726904" y="3202770"/>
            <a:ext cx="12364958" cy="6055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29768" lvl="1" indent="-414884" algn="l">
              <a:lnSpc>
                <a:spcPts val="5380"/>
              </a:lnSpc>
              <a:buFont typeface="Arial"/>
              <a:buChar char="•"/>
            </a:pPr>
            <a:r>
              <a:rPr lang="en-US" sz="3843">
                <a:solidFill>
                  <a:srgbClr val="0166C2"/>
                </a:solidFill>
                <a:latin typeface="Nourd"/>
                <a:ea typeface="Nourd"/>
                <a:cs typeface="Nourd"/>
                <a:sym typeface="Nourd"/>
              </a:rPr>
              <a:t>Equation of Motion: </a:t>
            </a:r>
            <a:r>
              <a:rPr lang="en-US" sz="3843" b="1">
                <a:solidFill>
                  <a:srgbClr val="0166C2"/>
                </a:solidFill>
                <a:latin typeface="Nourd Bold"/>
                <a:ea typeface="Nourd Bold"/>
                <a:cs typeface="Nourd Bold"/>
                <a:sym typeface="Nourd Bold"/>
              </a:rPr>
              <a:t>mẍ + cẋ + kx = F(t)</a:t>
            </a:r>
            <a:r>
              <a:rPr lang="en-US" sz="3843">
                <a:solidFill>
                  <a:srgbClr val="0166C2"/>
                </a:solidFill>
                <a:latin typeface="Nourd"/>
                <a:ea typeface="Nourd"/>
                <a:cs typeface="Nourd"/>
                <a:sym typeface="Nourd"/>
              </a:rPr>
              <a:t>, </a:t>
            </a:r>
          </a:p>
          <a:p>
            <a:pPr marL="829768" lvl="1" indent="-414884" algn="l">
              <a:lnSpc>
                <a:spcPts val="5380"/>
              </a:lnSpc>
              <a:buFont typeface="Arial"/>
              <a:buChar char="•"/>
            </a:pPr>
            <a:r>
              <a:rPr lang="en-US" sz="3843">
                <a:solidFill>
                  <a:srgbClr val="0166C2"/>
                </a:solidFill>
                <a:latin typeface="Nourd"/>
                <a:ea typeface="Nourd"/>
                <a:cs typeface="Nourd"/>
                <a:sym typeface="Nourd"/>
              </a:rPr>
              <a:t>where </a:t>
            </a:r>
            <a:r>
              <a:rPr lang="en-US" sz="3843" b="1">
                <a:solidFill>
                  <a:srgbClr val="0166C2"/>
                </a:solidFill>
                <a:latin typeface="Nourd Bold"/>
                <a:ea typeface="Nourd Bold"/>
                <a:cs typeface="Nourd Bold"/>
                <a:sym typeface="Nourd Bold"/>
              </a:rPr>
              <a:t>F(t) = A sin(ωt)</a:t>
            </a:r>
          </a:p>
          <a:p>
            <a:pPr marL="829768" lvl="1" indent="-414884" algn="l">
              <a:lnSpc>
                <a:spcPts val="5380"/>
              </a:lnSpc>
              <a:buFont typeface="Arial"/>
              <a:buChar char="•"/>
            </a:pPr>
            <a:r>
              <a:rPr lang="en-US" sz="3843">
                <a:solidFill>
                  <a:srgbClr val="0166C2"/>
                </a:solidFill>
                <a:latin typeface="Nourd"/>
                <a:ea typeface="Nourd"/>
                <a:cs typeface="Nourd"/>
                <a:sym typeface="Nourd"/>
              </a:rPr>
              <a:t>PID input: Error = desired − actual velocity</a:t>
            </a:r>
          </a:p>
          <a:p>
            <a:pPr marL="829768" lvl="1" indent="-414884" algn="l">
              <a:lnSpc>
                <a:spcPts val="5380"/>
              </a:lnSpc>
              <a:buFont typeface="Arial"/>
              <a:buChar char="•"/>
            </a:pPr>
            <a:r>
              <a:rPr lang="en-US" sz="3843">
                <a:solidFill>
                  <a:srgbClr val="0166C2"/>
                </a:solidFill>
                <a:latin typeface="Nourd"/>
                <a:ea typeface="Nourd"/>
                <a:cs typeface="Nourd"/>
                <a:sym typeface="Nourd"/>
              </a:rPr>
              <a:t>PID output used to control damping coefficient in real-time</a:t>
            </a:r>
          </a:p>
          <a:p>
            <a:pPr marL="829768" lvl="1" indent="-414884" algn="l">
              <a:lnSpc>
                <a:spcPts val="5380"/>
              </a:lnSpc>
              <a:buFont typeface="Arial"/>
              <a:buChar char="•"/>
            </a:pPr>
            <a:r>
              <a:rPr lang="en-US" sz="3843">
                <a:solidFill>
                  <a:srgbClr val="0166C2"/>
                </a:solidFill>
                <a:latin typeface="Nourd"/>
                <a:ea typeface="Nourd"/>
                <a:cs typeface="Nourd"/>
                <a:sym typeface="Nourd"/>
              </a:rPr>
              <a:t>Simulink block models created for: wave force input, dynamic system, PID loop, and power calculator</a:t>
            </a:r>
          </a:p>
          <a:p>
            <a:pPr algn="l">
              <a:lnSpc>
                <a:spcPts val="5380"/>
              </a:lnSpc>
            </a:pPr>
            <a:endParaRPr lang="en-US" sz="3843">
              <a:solidFill>
                <a:srgbClr val="0166C2"/>
              </a:solidFill>
              <a:latin typeface="Nourd"/>
              <a:ea typeface="Nourd"/>
              <a:cs typeface="Nourd"/>
              <a:sym typeface="Nourd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15201900" y="7236961"/>
            <a:ext cx="2174081" cy="2174081"/>
          </a:xfrm>
          <a:custGeom>
            <a:avLst/>
            <a:gdLst/>
            <a:ahLst/>
            <a:cxnLst/>
            <a:rect l="l" t="t" r="r" b="b"/>
            <a:pathLst>
              <a:path w="2174081" h="2174081">
                <a:moveTo>
                  <a:pt x="0" y="0"/>
                </a:moveTo>
                <a:lnTo>
                  <a:pt x="2174081" y="0"/>
                </a:lnTo>
                <a:lnTo>
                  <a:pt x="2174081" y="2174081"/>
                </a:lnTo>
                <a:lnTo>
                  <a:pt x="0" y="217408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604698" y="650011"/>
            <a:ext cx="2690952" cy="1345476"/>
          </a:xfrm>
          <a:custGeom>
            <a:avLst/>
            <a:gdLst/>
            <a:ahLst/>
            <a:cxnLst/>
            <a:rect l="l" t="t" r="r" b="b"/>
            <a:pathLst>
              <a:path w="2690952" h="1345476">
                <a:moveTo>
                  <a:pt x="0" y="0"/>
                </a:moveTo>
                <a:lnTo>
                  <a:pt x="2690952" y="0"/>
                </a:lnTo>
                <a:lnTo>
                  <a:pt x="2690952" y="1345476"/>
                </a:lnTo>
                <a:lnTo>
                  <a:pt x="0" y="134547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737995" y="-131100"/>
            <a:ext cx="13703340" cy="31776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780"/>
              </a:lnSpc>
            </a:pPr>
            <a:r>
              <a:rPr lang="en-US" sz="9129" b="1">
                <a:solidFill>
                  <a:srgbClr val="0166C2"/>
                </a:solidFill>
                <a:latin typeface="Luktao Bold"/>
                <a:ea typeface="Luktao Bold"/>
                <a:cs typeface="Luktao Bold"/>
                <a:sym typeface="Luktao Bold"/>
              </a:rPr>
              <a:t>SIMULATION ARCHITECTURE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144000" y="-2201124"/>
            <a:ext cx="11772900" cy="6143313"/>
          </a:xfrm>
          <a:custGeom>
            <a:avLst/>
            <a:gdLst/>
            <a:ahLst/>
            <a:cxnLst/>
            <a:rect l="l" t="t" r="r" b="b"/>
            <a:pathLst>
              <a:path w="11772900" h="6143313">
                <a:moveTo>
                  <a:pt x="0" y="0"/>
                </a:moveTo>
                <a:lnTo>
                  <a:pt x="11772900" y="0"/>
                </a:lnTo>
                <a:lnTo>
                  <a:pt x="11772900" y="6143314"/>
                </a:lnTo>
                <a:lnTo>
                  <a:pt x="0" y="61433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6288941" y="8081358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-819150" y="-1605811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4201387" y="89215"/>
            <a:ext cx="13752017" cy="1558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780"/>
              </a:lnSpc>
            </a:pPr>
            <a:r>
              <a:rPr lang="en-US" sz="9129" b="1">
                <a:solidFill>
                  <a:srgbClr val="0166C2"/>
                </a:solidFill>
                <a:latin typeface="Luktao Bold"/>
                <a:ea typeface="Luktao Bold"/>
                <a:cs typeface="Luktao Bold"/>
                <a:sym typeface="Luktao Bold"/>
              </a:rPr>
              <a:t>SIMULATION WORKFLOW</a:t>
            </a:r>
          </a:p>
        </p:txBody>
      </p:sp>
      <p:sp>
        <p:nvSpPr>
          <p:cNvPr id="6" name="Freeform 6"/>
          <p:cNvSpPr/>
          <p:nvPr/>
        </p:nvSpPr>
        <p:spPr>
          <a:xfrm>
            <a:off x="-5514975" y="6838101"/>
            <a:ext cx="11772900" cy="6143313"/>
          </a:xfrm>
          <a:custGeom>
            <a:avLst/>
            <a:gdLst/>
            <a:ahLst/>
            <a:cxnLst/>
            <a:rect l="l" t="t" r="r" b="b"/>
            <a:pathLst>
              <a:path w="11772900" h="6143313">
                <a:moveTo>
                  <a:pt x="0" y="0"/>
                </a:moveTo>
                <a:lnTo>
                  <a:pt x="11772900" y="0"/>
                </a:lnTo>
                <a:lnTo>
                  <a:pt x="11772900" y="6143314"/>
                </a:lnTo>
                <a:lnTo>
                  <a:pt x="0" y="61433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6734259" y="8735911"/>
            <a:ext cx="1402847" cy="1402847"/>
          </a:xfrm>
          <a:custGeom>
            <a:avLst/>
            <a:gdLst/>
            <a:ahLst/>
            <a:cxnLst/>
            <a:rect l="l" t="t" r="r" b="b"/>
            <a:pathLst>
              <a:path w="1402847" h="1402847">
                <a:moveTo>
                  <a:pt x="0" y="0"/>
                </a:moveTo>
                <a:lnTo>
                  <a:pt x="1402847" y="0"/>
                </a:lnTo>
                <a:lnTo>
                  <a:pt x="1402847" y="1402847"/>
                </a:lnTo>
                <a:lnTo>
                  <a:pt x="0" y="140284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604698" y="650011"/>
            <a:ext cx="2690952" cy="1345476"/>
          </a:xfrm>
          <a:custGeom>
            <a:avLst/>
            <a:gdLst/>
            <a:ahLst/>
            <a:cxnLst/>
            <a:rect l="l" t="t" r="r" b="b"/>
            <a:pathLst>
              <a:path w="2690952" h="1345476">
                <a:moveTo>
                  <a:pt x="0" y="0"/>
                </a:moveTo>
                <a:lnTo>
                  <a:pt x="2690952" y="0"/>
                </a:lnTo>
                <a:lnTo>
                  <a:pt x="2690952" y="1345476"/>
                </a:lnTo>
                <a:lnTo>
                  <a:pt x="0" y="134547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5514975" y="6838101"/>
            <a:ext cx="11772900" cy="6143313"/>
          </a:xfrm>
          <a:custGeom>
            <a:avLst/>
            <a:gdLst/>
            <a:ahLst/>
            <a:cxnLst/>
            <a:rect l="l" t="t" r="r" b="b"/>
            <a:pathLst>
              <a:path w="11772900" h="6143313">
                <a:moveTo>
                  <a:pt x="0" y="0"/>
                </a:moveTo>
                <a:lnTo>
                  <a:pt x="11772900" y="0"/>
                </a:lnTo>
                <a:lnTo>
                  <a:pt x="11772900" y="6143314"/>
                </a:lnTo>
                <a:lnTo>
                  <a:pt x="0" y="61433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-5514975" y="6838101"/>
            <a:ext cx="11772900" cy="6143313"/>
          </a:xfrm>
          <a:custGeom>
            <a:avLst/>
            <a:gdLst/>
            <a:ahLst/>
            <a:cxnLst/>
            <a:rect l="l" t="t" r="r" b="b"/>
            <a:pathLst>
              <a:path w="11772900" h="6143313">
                <a:moveTo>
                  <a:pt x="0" y="0"/>
                </a:moveTo>
                <a:lnTo>
                  <a:pt x="11772900" y="0"/>
                </a:lnTo>
                <a:lnTo>
                  <a:pt x="11772900" y="6143314"/>
                </a:lnTo>
                <a:lnTo>
                  <a:pt x="0" y="61433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1238250" y="2238375"/>
            <a:ext cx="11086965" cy="1320978"/>
            <a:chOff x="0" y="0"/>
            <a:chExt cx="3410915" cy="4064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410915" cy="406400"/>
            </a:xfrm>
            <a:custGeom>
              <a:avLst/>
              <a:gdLst/>
              <a:ahLst/>
              <a:cxnLst/>
              <a:rect l="l" t="t" r="r" b="b"/>
              <a:pathLst>
                <a:path w="3410915" h="406400">
                  <a:moveTo>
                    <a:pt x="3207715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3207715" y="406400"/>
                  </a:lnTo>
                  <a:lnTo>
                    <a:pt x="3410915" y="203200"/>
                  </a:lnTo>
                  <a:lnTo>
                    <a:pt x="3207715" y="0"/>
                  </a:lnTo>
                  <a:close/>
                </a:path>
              </a:pathLst>
            </a:custGeom>
            <a:solidFill>
              <a:srgbClr val="CFEDFF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3296615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950174" y="3811593"/>
            <a:ext cx="10820832" cy="1331907"/>
            <a:chOff x="0" y="0"/>
            <a:chExt cx="3301722" cy="4064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301722" cy="406400"/>
            </a:xfrm>
            <a:custGeom>
              <a:avLst/>
              <a:gdLst/>
              <a:ahLst/>
              <a:cxnLst/>
              <a:rect l="l" t="t" r="r" b="b"/>
              <a:pathLst>
                <a:path w="3301722" h="406400">
                  <a:moveTo>
                    <a:pt x="3098522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3098522" y="406400"/>
                  </a:lnTo>
                  <a:lnTo>
                    <a:pt x="3301722" y="203200"/>
                  </a:lnTo>
                  <a:lnTo>
                    <a:pt x="3098522" y="0"/>
                  </a:lnTo>
                  <a:close/>
                </a:path>
              </a:pathLst>
            </a:custGeom>
            <a:solidFill>
              <a:srgbClr val="75BDFF">
                <a:alpha val="62745"/>
              </a:srgbClr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3187422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2542614" y="5391150"/>
            <a:ext cx="11028545" cy="1384601"/>
            <a:chOff x="0" y="0"/>
            <a:chExt cx="3237034" cy="4064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237034" cy="406400"/>
            </a:xfrm>
            <a:custGeom>
              <a:avLst/>
              <a:gdLst/>
              <a:ahLst/>
              <a:cxnLst/>
              <a:rect l="l" t="t" r="r" b="b"/>
              <a:pathLst>
                <a:path w="3237034" h="406400">
                  <a:moveTo>
                    <a:pt x="3033834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3033834" y="406400"/>
                  </a:lnTo>
                  <a:lnTo>
                    <a:pt x="3237034" y="203200"/>
                  </a:lnTo>
                  <a:lnTo>
                    <a:pt x="3033834" y="0"/>
                  </a:lnTo>
                  <a:close/>
                </a:path>
              </a:pathLst>
            </a:custGeom>
            <a:solidFill>
              <a:srgbClr val="75BDFF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3122734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3880608" y="7023401"/>
            <a:ext cx="10966705" cy="1382861"/>
            <a:chOff x="0" y="0"/>
            <a:chExt cx="3222935" cy="4064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3222935" cy="406400"/>
            </a:xfrm>
            <a:custGeom>
              <a:avLst/>
              <a:gdLst/>
              <a:ahLst/>
              <a:cxnLst/>
              <a:rect l="l" t="t" r="r" b="b"/>
              <a:pathLst>
                <a:path w="3222935" h="406400">
                  <a:moveTo>
                    <a:pt x="3019735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3019735" y="406400"/>
                  </a:lnTo>
                  <a:lnTo>
                    <a:pt x="3222935" y="203200"/>
                  </a:lnTo>
                  <a:lnTo>
                    <a:pt x="3019735" y="0"/>
                  </a:lnTo>
                  <a:close/>
                </a:path>
              </a:pathLst>
            </a:custGeom>
            <a:solidFill>
              <a:srgbClr val="0166C2">
                <a:alpha val="70980"/>
              </a:srgbClr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3108635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354348" y="2351238"/>
            <a:ext cx="10150047" cy="10968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16"/>
              </a:lnSpc>
            </a:pPr>
            <a:r>
              <a:rPr lang="en-US" sz="3154">
                <a:solidFill>
                  <a:srgbClr val="0166C2"/>
                </a:solidFill>
                <a:latin typeface="Nourd"/>
                <a:ea typeface="Nourd"/>
                <a:cs typeface="Nourd"/>
                <a:sym typeface="Nourd"/>
              </a:rPr>
              <a:t>Step 1: Assign physical parameters (mass, spring constant, damping)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4941640" y="8653911"/>
            <a:ext cx="10966705" cy="1382861"/>
            <a:chOff x="0" y="0"/>
            <a:chExt cx="3222935" cy="4064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3222935" cy="406400"/>
            </a:xfrm>
            <a:custGeom>
              <a:avLst/>
              <a:gdLst/>
              <a:ahLst/>
              <a:cxnLst/>
              <a:rect l="l" t="t" r="r" b="b"/>
              <a:pathLst>
                <a:path w="3222935" h="406400">
                  <a:moveTo>
                    <a:pt x="3019735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3019735" y="406400"/>
                  </a:lnTo>
                  <a:lnTo>
                    <a:pt x="3222935" y="203200"/>
                  </a:lnTo>
                  <a:lnTo>
                    <a:pt x="3019735" y="0"/>
                  </a:lnTo>
                  <a:close/>
                </a:path>
              </a:pathLst>
            </a:custGeom>
            <a:solidFill>
              <a:srgbClr val="16436A">
                <a:alpha val="70980"/>
              </a:srgbClr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3108635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2175168" y="3876368"/>
            <a:ext cx="10150047" cy="22070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16"/>
              </a:lnSpc>
            </a:pPr>
            <a:r>
              <a:rPr lang="en-US" sz="3154">
                <a:solidFill>
                  <a:srgbClr val="0166C2"/>
                </a:solidFill>
                <a:latin typeface="Nourd"/>
                <a:ea typeface="Nourd"/>
                <a:cs typeface="Nourd"/>
                <a:sym typeface="Nourd"/>
              </a:rPr>
              <a:t>Step 2: Implement wave input as a sinusoidal force function</a:t>
            </a:r>
          </a:p>
          <a:p>
            <a:pPr algn="l">
              <a:lnSpc>
                <a:spcPts val="4416"/>
              </a:lnSpc>
            </a:pPr>
            <a:endParaRPr lang="en-US" sz="3154">
              <a:solidFill>
                <a:srgbClr val="0166C2"/>
              </a:solidFill>
              <a:latin typeface="Nourd"/>
              <a:ea typeface="Nourd"/>
              <a:cs typeface="Nourd"/>
              <a:sym typeface="Nourd"/>
            </a:endParaRPr>
          </a:p>
          <a:p>
            <a:pPr algn="l">
              <a:lnSpc>
                <a:spcPts val="4416"/>
              </a:lnSpc>
            </a:pPr>
            <a:endParaRPr lang="en-US" sz="3154">
              <a:solidFill>
                <a:srgbClr val="0166C2"/>
              </a:solidFill>
              <a:latin typeface="Nourd"/>
              <a:ea typeface="Nourd"/>
              <a:cs typeface="Nourd"/>
              <a:sym typeface="Nourd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2754705" y="5667375"/>
            <a:ext cx="10150047" cy="16519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16"/>
              </a:lnSpc>
            </a:pPr>
            <a:r>
              <a:rPr lang="en-US" sz="3154">
                <a:solidFill>
                  <a:srgbClr val="0166C2"/>
                </a:solidFill>
                <a:latin typeface="Nourd"/>
                <a:ea typeface="Nourd"/>
                <a:cs typeface="Nourd"/>
                <a:sym typeface="Nourd"/>
              </a:rPr>
              <a:t>Step 3: Use PID to dynamically adjust the damping</a:t>
            </a:r>
          </a:p>
          <a:p>
            <a:pPr algn="l">
              <a:lnSpc>
                <a:spcPts val="4416"/>
              </a:lnSpc>
            </a:pPr>
            <a:endParaRPr lang="en-US" sz="3154">
              <a:solidFill>
                <a:srgbClr val="0166C2"/>
              </a:solidFill>
              <a:latin typeface="Nourd"/>
              <a:ea typeface="Nourd"/>
              <a:cs typeface="Nourd"/>
              <a:sym typeface="Nourd"/>
            </a:endParaRPr>
          </a:p>
          <a:p>
            <a:pPr algn="l">
              <a:lnSpc>
                <a:spcPts val="4416"/>
              </a:lnSpc>
            </a:pPr>
            <a:endParaRPr lang="en-US" sz="3154">
              <a:solidFill>
                <a:srgbClr val="0166C2"/>
              </a:solidFill>
              <a:latin typeface="Nourd"/>
              <a:ea typeface="Nourd"/>
              <a:cs typeface="Nourd"/>
              <a:sym typeface="Nourd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4068976" y="7411998"/>
            <a:ext cx="10150047" cy="538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16"/>
              </a:lnSpc>
            </a:pPr>
            <a:r>
              <a:rPr lang="en-US" sz="3154">
                <a:solidFill>
                  <a:srgbClr val="CFEDFF"/>
                </a:solidFill>
                <a:latin typeface="Nourd"/>
                <a:ea typeface="Nourd"/>
                <a:cs typeface="Nourd"/>
                <a:sym typeface="Nourd"/>
              </a:rPr>
              <a:t>Step 4: Sweep 250 combinations of (Kp, Ki, Kd)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236390" y="8818316"/>
            <a:ext cx="10150047" cy="10914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16"/>
              </a:lnSpc>
            </a:pPr>
            <a:r>
              <a:rPr lang="en-US" sz="3154">
                <a:solidFill>
                  <a:srgbClr val="CFEDFF"/>
                </a:solidFill>
                <a:latin typeface="Nourd"/>
                <a:ea typeface="Nourd"/>
                <a:cs typeface="Nourd"/>
                <a:sym typeface="Nourd"/>
              </a:rPr>
              <a:t>Step 5: Record power output for each set → dataset for ML model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691110" y="607041"/>
            <a:ext cx="12015637" cy="8651259"/>
          </a:xfrm>
          <a:custGeom>
            <a:avLst/>
            <a:gdLst/>
            <a:ahLst/>
            <a:cxnLst/>
            <a:rect l="l" t="t" r="r" b="b"/>
            <a:pathLst>
              <a:path w="12015637" h="8651259">
                <a:moveTo>
                  <a:pt x="0" y="0"/>
                </a:moveTo>
                <a:lnTo>
                  <a:pt x="12015636" y="0"/>
                </a:lnTo>
                <a:lnTo>
                  <a:pt x="12015636" y="8651259"/>
                </a:lnTo>
                <a:lnTo>
                  <a:pt x="0" y="86512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92618" y="527923"/>
            <a:ext cx="15866682" cy="9024175"/>
          </a:xfrm>
          <a:custGeom>
            <a:avLst/>
            <a:gdLst/>
            <a:ahLst/>
            <a:cxnLst/>
            <a:rect l="l" t="t" r="r" b="b"/>
            <a:pathLst>
              <a:path w="15866682" h="9024175">
                <a:moveTo>
                  <a:pt x="0" y="0"/>
                </a:moveTo>
                <a:lnTo>
                  <a:pt x="15866682" y="0"/>
                </a:lnTo>
                <a:lnTo>
                  <a:pt x="15866682" y="9024175"/>
                </a:lnTo>
                <a:lnTo>
                  <a:pt x="0" y="90241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07614A8-AE3F-2235-7D0C-6722636141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0" y="571500"/>
            <a:ext cx="11734800" cy="738414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6FAA2AB-0787-B6B2-AC87-CE17992F38C7}"/>
              </a:ext>
            </a:extLst>
          </p:cNvPr>
          <p:cNvSpPr txBox="1"/>
          <p:nvPr/>
        </p:nvSpPr>
        <p:spPr>
          <a:xfrm>
            <a:off x="3048000" y="8115300"/>
            <a:ext cx="118872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Fig Simulation results ( Power, Velocity , Position ) in ML tuned PID conditions , </a:t>
            </a:r>
            <a:r>
              <a:rPr lang="en-US" sz="2800" b="1" dirty="0" err="1"/>
              <a:t>Kp</a:t>
            </a:r>
            <a:r>
              <a:rPr lang="en-US" sz="2800" b="1" dirty="0"/>
              <a:t> =28 , Ki = 0 , </a:t>
            </a:r>
            <a:r>
              <a:rPr lang="en-US" sz="2800" b="1" dirty="0" err="1"/>
              <a:t>Kd</a:t>
            </a:r>
            <a:r>
              <a:rPr lang="en-US" sz="2800" b="1" dirty="0"/>
              <a:t> = 12 .</a:t>
            </a:r>
            <a:endParaRPr lang="en-IN" sz="2800" b="1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235676"/>
            <a:ext cx="14439440" cy="9644770"/>
          </a:xfrm>
          <a:custGeom>
            <a:avLst/>
            <a:gdLst/>
            <a:ahLst/>
            <a:cxnLst/>
            <a:rect l="l" t="t" r="r" b="b"/>
            <a:pathLst>
              <a:path w="14439440" h="9644770">
                <a:moveTo>
                  <a:pt x="0" y="0"/>
                </a:moveTo>
                <a:lnTo>
                  <a:pt x="14439440" y="0"/>
                </a:lnTo>
                <a:lnTo>
                  <a:pt x="14439440" y="9644770"/>
                </a:lnTo>
                <a:lnTo>
                  <a:pt x="0" y="96447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077" b="-7077"/>
            </a:stretch>
          </a:blipFill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144000" y="-2201124"/>
            <a:ext cx="11772900" cy="6143313"/>
          </a:xfrm>
          <a:custGeom>
            <a:avLst/>
            <a:gdLst/>
            <a:ahLst/>
            <a:cxnLst/>
            <a:rect l="l" t="t" r="r" b="b"/>
            <a:pathLst>
              <a:path w="11772900" h="6143313">
                <a:moveTo>
                  <a:pt x="0" y="0"/>
                </a:moveTo>
                <a:lnTo>
                  <a:pt x="11772900" y="0"/>
                </a:lnTo>
                <a:lnTo>
                  <a:pt x="11772900" y="6143314"/>
                </a:lnTo>
                <a:lnTo>
                  <a:pt x="0" y="61433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6288941" y="8081358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-819150" y="-1605811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3507283" y="24313"/>
            <a:ext cx="13752017" cy="31776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780"/>
              </a:lnSpc>
            </a:pPr>
            <a:r>
              <a:rPr lang="en-US" sz="9129" b="1">
                <a:solidFill>
                  <a:srgbClr val="0166C2"/>
                </a:solidFill>
                <a:latin typeface="Luktao Bold"/>
                <a:ea typeface="Luktao Bold"/>
                <a:cs typeface="Luktao Bold"/>
                <a:sym typeface="Luktao Bold"/>
              </a:rPr>
              <a:t>MACHINE LEARNING MODEL</a:t>
            </a:r>
          </a:p>
        </p:txBody>
      </p:sp>
      <p:sp>
        <p:nvSpPr>
          <p:cNvPr id="6" name="Freeform 6"/>
          <p:cNvSpPr/>
          <p:nvPr/>
        </p:nvSpPr>
        <p:spPr>
          <a:xfrm>
            <a:off x="-5514975" y="6838101"/>
            <a:ext cx="11772900" cy="6143313"/>
          </a:xfrm>
          <a:custGeom>
            <a:avLst/>
            <a:gdLst/>
            <a:ahLst/>
            <a:cxnLst/>
            <a:rect l="l" t="t" r="r" b="b"/>
            <a:pathLst>
              <a:path w="11772900" h="6143313">
                <a:moveTo>
                  <a:pt x="0" y="0"/>
                </a:moveTo>
                <a:lnTo>
                  <a:pt x="11772900" y="0"/>
                </a:lnTo>
                <a:lnTo>
                  <a:pt x="11772900" y="6143314"/>
                </a:lnTo>
                <a:lnTo>
                  <a:pt x="0" y="61433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6734259" y="8735911"/>
            <a:ext cx="1402847" cy="1402847"/>
          </a:xfrm>
          <a:custGeom>
            <a:avLst/>
            <a:gdLst/>
            <a:ahLst/>
            <a:cxnLst/>
            <a:rect l="l" t="t" r="r" b="b"/>
            <a:pathLst>
              <a:path w="1402847" h="1402847">
                <a:moveTo>
                  <a:pt x="0" y="0"/>
                </a:moveTo>
                <a:lnTo>
                  <a:pt x="1402847" y="0"/>
                </a:lnTo>
                <a:lnTo>
                  <a:pt x="1402847" y="1402847"/>
                </a:lnTo>
                <a:lnTo>
                  <a:pt x="0" y="140284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604698" y="650011"/>
            <a:ext cx="2690952" cy="1345476"/>
          </a:xfrm>
          <a:custGeom>
            <a:avLst/>
            <a:gdLst/>
            <a:ahLst/>
            <a:cxnLst/>
            <a:rect l="l" t="t" r="r" b="b"/>
            <a:pathLst>
              <a:path w="2690952" h="1345476">
                <a:moveTo>
                  <a:pt x="0" y="0"/>
                </a:moveTo>
                <a:lnTo>
                  <a:pt x="2690952" y="0"/>
                </a:lnTo>
                <a:lnTo>
                  <a:pt x="2690952" y="1345476"/>
                </a:lnTo>
                <a:lnTo>
                  <a:pt x="0" y="134547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5514975" y="6838101"/>
            <a:ext cx="11772900" cy="6143313"/>
          </a:xfrm>
          <a:custGeom>
            <a:avLst/>
            <a:gdLst/>
            <a:ahLst/>
            <a:cxnLst/>
            <a:rect l="l" t="t" r="r" b="b"/>
            <a:pathLst>
              <a:path w="11772900" h="6143313">
                <a:moveTo>
                  <a:pt x="0" y="0"/>
                </a:moveTo>
                <a:lnTo>
                  <a:pt x="11772900" y="0"/>
                </a:lnTo>
                <a:lnTo>
                  <a:pt x="11772900" y="6143314"/>
                </a:lnTo>
                <a:lnTo>
                  <a:pt x="0" y="61433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-5514975" y="6838101"/>
            <a:ext cx="11772900" cy="6143313"/>
          </a:xfrm>
          <a:custGeom>
            <a:avLst/>
            <a:gdLst/>
            <a:ahLst/>
            <a:cxnLst/>
            <a:rect l="l" t="t" r="r" b="b"/>
            <a:pathLst>
              <a:path w="11772900" h="6143313">
                <a:moveTo>
                  <a:pt x="0" y="0"/>
                </a:moveTo>
                <a:lnTo>
                  <a:pt x="11772900" y="0"/>
                </a:lnTo>
                <a:lnTo>
                  <a:pt x="11772900" y="6143314"/>
                </a:lnTo>
                <a:lnTo>
                  <a:pt x="0" y="61433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2665492" y="3300123"/>
            <a:ext cx="12364958" cy="6731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29768" lvl="1" indent="-414884" algn="l">
              <a:lnSpc>
                <a:spcPts val="5380"/>
              </a:lnSpc>
              <a:buFont typeface="Arial"/>
              <a:buChar char="•"/>
            </a:pPr>
            <a:r>
              <a:rPr lang="en-US" sz="3843">
                <a:solidFill>
                  <a:srgbClr val="0166C2"/>
                </a:solidFill>
                <a:latin typeface="Nourd"/>
                <a:ea typeface="Nourd"/>
                <a:cs typeface="Nourd"/>
                <a:sym typeface="Nourd"/>
              </a:rPr>
              <a:t>Supervised learning approach using a feedforward neural network (FNN)</a:t>
            </a:r>
          </a:p>
          <a:p>
            <a:pPr marL="829768" lvl="1" indent="-414884" algn="l">
              <a:lnSpc>
                <a:spcPts val="5380"/>
              </a:lnSpc>
              <a:buFont typeface="Arial"/>
              <a:buChar char="•"/>
            </a:pPr>
            <a:r>
              <a:rPr lang="en-US" sz="3843">
                <a:solidFill>
                  <a:srgbClr val="0166C2"/>
                </a:solidFill>
                <a:latin typeface="Nourd"/>
                <a:ea typeface="Nourd"/>
                <a:cs typeface="Nourd"/>
                <a:sym typeface="Nourd"/>
              </a:rPr>
              <a:t>Inputs: Kp, Ki, Kd values</a:t>
            </a:r>
          </a:p>
          <a:p>
            <a:pPr marL="829768" lvl="1" indent="-414884" algn="l">
              <a:lnSpc>
                <a:spcPts val="5380"/>
              </a:lnSpc>
              <a:buFont typeface="Arial"/>
              <a:buChar char="•"/>
            </a:pPr>
            <a:r>
              <a:rPr lang="en-US" sz="3843">
                <a:solidFill>
                  <a:srgbClr val="0166C2"/>
                </a:solidFill>
                <a:latin typeface="Nourd"/>
                <a:ea typeface="Nourd"/>
                <a:cs typeface="Nourd"/>
                <a:sym typeface="Nourd"/>
              </a:rPr>
              <a:t>Output: Corresponding power output predicted</a:t>
            </a:r>
          </a:p>
          <a:p>
            <a:pPr marL="829768" lvl="1" indent="-414884" algn="l">
              <a:lnSpc>
                <a:spcPts val="5380"/>
              </a:lnSpc>
              <a:buFont typeface="Arial"/>
              <a:buChar char="•"/>
            </a:pPr>
            <a:r>
              <a:rPr lang="en-US" sz="3843">
                <a:solidFill>
                  <a:srgbClr val="0166C2"/>
                </a:solidFill>
                <a:latin typeface="Nourd"/>
                <a:ea typeface="Nourd"/>
                <a:cs typeface="Nourd"/>
                <a:sym typeface="Nourd"/>
              </a:rPr>
              <a:t>Architecture: Dense layers with ReLU activations, MSE loss, and Adam optimizer</a:t>
            </a:r>
          </a:p>
          <a:p>
            <a:pPr marL="829768" lvl="1" indent="-414884" algn="l">
              <a:lnSpc>
                <a:spcPts val="5380"/>
              </a:lnSpc>
              <a:buFont typeface="Arial"/>
              <a:buChar char="•"/>
            </a:pPr>
            <a:r>
              <a:rPr lang="en-US" sz="3843">
                <a:solidFill>
                  <a:srgbClr val="0166C2"/>
                </a:solidFill>
                <a:latin typeface="Nourd"/>
                <a:ea typeface="Nourd"/>
                <a:cs typeface="Nourd"/>
                <a:sym typeface="Nourd"/>
              </a:rPr>
              <a:t>Trained using the dataset generated from simulations</a:t>
            </a:r>
          </a:p>
          <a:p>
            <a:pPr algn="l">
              <a:lnSpc>
                <a:spcPts val="5380"/>
              </a:lnSpc>
            </a:pPr>
            <a:endParaRPr lang="en-US" sz="3843">
              <a:solidFill>
                <a:srgbClr val="0166C2"/>
              </a:solidFill>
              <a:latin typeface="Nourd"/>
              <a:ea typeface="Nourd"/>
              <a:cs typeface="Nourd"/>
              <a:sym typeface="Nourd"/>
            </a:endParaRPr>
          </a:p>
          <a:p>
            <a:pPr algn="l">
              <a:lnSpc>
                <a:spcPts val="5380"/>
              </a:lnSpc>
            </a:pPr>
            <a:endParaRPr lang="en-US" sz="3843">
              <a:solidFill>
                <a:srgbClr val="0166C2"/>
              </a:solidFill>
              <a:latin typeface="Nourd"/>
              <a:ea typeface="Nourd"/>
              <a:cs typeface="Nourd"/>
              <a:sym typeface="Nour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144000" y="-2201124"/>
            <a:ext cx="11772900" cy="6143313"/>
          </a:xfrm>
          <a:custGeom>
            <a:avLst/>
            <a:gdLst/>
            <a:ahLst/>
            <a:cxnLst/>
            <a:rect l="l" t="t" r="r" b="b"/>
            <a:pathLst>
              <a:path w="11772900" h="6143313">
                <a:moveTo>
                  <a:pt x="0" y="0"/>
                </a:moveTo>
                <a:lnTo>
                  <a:pt x="11772900" y="0"/>
                </a:lnTo>
                <a:lnTo>
                  <a:pt x="11772900" y="6143314"/>
                </a:lnTo>
                <a:lnTo>
                  <a:pt x="0" y="61433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6288941" y="8081358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-819150" y="-1605811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3523509" y="478561"/>
            <a:ext cx="14952709" cy="1558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780"/>
              </a:lnSpc>
            </a:pPr>
            <a:r>
              <a:rPr lang="en-US" sz="9129" b="1">
                <a:solidFill>
                  <a:srgbClr val="0166C2"/>
                </a:solidFill>
                <a:latin typeface="Luktao Bold"/>
                <a:ea typeface="Luktao Bold"/>
                <a:cs typeface="Luktao Bold"/>
                <a:sym typeface="Luktao Bold"/>
              </a:rPr>
              <a:t>TRAINING &amp; OPTIMIZATION</a:t>
            </a:r>
          </a:p>
        </p:txBody>
      </p:sp>
      <p:sp>
        <p:nvSpPr>
          <p:cNvPr id="6" name="Freeform 6"/>
          <p:cNvSpPr/>
          <p:nvPr/>
        </p:nvSpPr>
        <p:spPr>
          <a:xfrm>
            <a:off x="-5514975" y="6838101"/>
            <a:ext cx="11772900" cy="6143313"/>
          </a:xfrm>
          <a:custGeom>
            <a:avLst/>
            <a:gdLst/>
            <a:ahLst/>
            <a:cxnLst/>
            <a:rect l="l" t="t" r="r" b="b"/>
            <a:pathLst>
              <a:path w="11772900" h="6143313">
                <a:moveTo>
                  <a:pt x="0" y="0"/>
                </a:moveTo>
                <a:lnTo>
                  <a:pt x="11772900" y="0"/>
                </a:lnTo>
                <a:lnTo>
                  <a:pt x="11772900" y="6143314"/>
                </a:lnTo>
                <a:lnTo>
                  <a:pt x="0" y="61433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6734259" y="8735911"/>
            <a:ext cx="1402847" cy="1402847"/>
          </a:xfrm>
          <a:custGeom>
            <a:avLst/>
            <a:gdLst/>
            <a:ahLst/>
            <a:cxnLst/>
            <a:rect l="l" t="t" r="r" b="b"/>
            <a:pathLst>
              <a:path w="1402847" h="1402847">
                <a:moveTo>
                  <a:pt x="0" y="0"/>
                </a:moveTo>
                <a:lnTo>
                  <a:pt x="1402847" y="0"/>
                </a:lnTo>
                <a:lnTo>
                  <a:pt x="1402847" y="1402847"/>
                </a:lnTo>
                <a:lnTo>
                  <a:pt x="0" y="140284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604698" y="650011"/>
            <a:ext cx="2690952" cy="1345476"/>
          </a:xfrm>
          <a:custGeom>
            <a:avLst/>
            <a:gdLst/>
            <a:ahLst/>
            <a:cxnLst/>
            <a:rect l="l" t="t" r="r" b="b"/>
            <a:pathLst>
              <a:path w="2690952" h="1345476">
                <a:moveTo>
                  <a:pt x="0" y="0"/>
                </a:moveTo>
                <a:lnTo>
                  <a:pt x="2690952" y="0"/>
                </a:lnTo>
                <a:lnTo>
                  <a:pt x="2690952" y="1345476"/>
                </a:lnTo>
                <a:lnTo>
                  <a:pt x="0" y="134547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5514975" y="6838101"/>
            <a:ext cx="11772900" cy="6143313"/>
          </a:xfrm>
          <a:custGeom>
            <a:avLst/>
            <a:gdLst/>
            <a:ahLst/>
            <a:cxnLst/>
            <a:rect l="l" t="t" r="r" b="b"/>
            <a:pathLst>
              <a:path w="11772900" h="6143313">
                <a:moveTo>
                  <a:pt x="0" y="0"/>
                </a:moveTo>
                <a:lnTo>
                  <a:pt x="11772900" y="0"/>
                </a:lnTo>
                <a:lnTo>
                  <a:pt x="11772900" y="6143314"/>
                </a:lnTo>
                <a:lnTo>
                  <a:pt x="0" y="61433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-5514975" y="6838101"/>
            <a:ext cx="11772900" cy="6143313"/>
          </a:xfrm>
          <a:custGeom>
            <a:avLst/>
            <a:gdLst/>
            <a:ahLst/>
            <a:cxnLst/>
            <a:rect l="l" t="t" r="r" b="b"/>
            <a:pathLst>
              <a:path w="11772900" h="6143313">
                <a:moveTo>
                  <a:pt x="0" y="0"/>
                </a:moveTo>
                <a:lnTo>
                  <a:pt x="11772900" y="0"/>
                </a:lnTo>
                <a:lnTo>
                  <a:pt x="11772900" y="6143314"/>
                </a:lnTo>
                <a:lnTo>
                  <a:pt x="0" y="61433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2843974" y="2702103"/>
            <a:ext cx="12364958" cy="5485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29768" lvl="1" indent="-414884" algn="l">
              <a:lnSpc>
                <a:spcPts val="5380"/>
              </a:lnSpc>
              <a:buFont typeface="Arial"/>
              <a:buChar char="•"/>
            </a:pPr>
            <a:r>
              <a:rPr lang="en-US" sz="3843" dirty="0">
                <a:solidFill>
                  <a:srgbClr val="0166C2"/>
                </a:solidFill>
                <a:latin typeface="Nourd"/>
                <a:ea typeface="Nourd"/>
                <a:cs typeface="Nourd"/>
                <a:sym typeface="Nourd"/>
              </a:rPr>
              <a:t>250 PID samples split into training and validation sets</a:t>
            </a:r>
          </a:p>
          <a:p>
            <a:pPr marL="829768" lvl="1" indent="-414884" algn="l">
              <a:lnSpc>
                <a:spcPts val="5380"/>
              </a:lnSpc>
              <a:buFont typeface="Arial"/>
              <a:buChar char="•"/>
            </a:pPr>
            <a:r>
              <a:rPr lang="en-US" sz="3843" dirty="0">
                <a:solidFill>
                  <a:srgbClr val="0166C2"/>
                </a:solidFill>
                <a:latin typeface="Nourd"/>
                <a:ea typeface="Nourd"/>
                <a:cs typeface="Nourd"/>
                <a:sym typeface="Nourd"/>
              </a:rPr>
              <a:t>Early stopping used to prevent overfitting</a:t>
            </a:r>
          </a:p>
          <a:p>
            <a:pPr marL="829768" lvl="1" indent="-414884" algn="l">
              <a:lnSpc>
                <a:spcPts val="5380"/>
              </a:lnSpc>
              <a:buFont typeface="Arial"/>
              <a:buChar char="•"/>
            </a:pPr>
            <a:r>
              <a:rPr lang="en-US" sz="3843" dirty="0">
                <a:solidFill>
                  <a:srgbClr val="0166C2"/>
                </a:solidFill>
                <a:latin typeface="Nourd"/>
                <a:ea typeface="Nourd"/>
                <a:cs typeface="Nourd"/>
                <a:sym typeface="Nourd"/>
              </a:rPr>
              <a:t>Once trained, model is used to evaluate 500,000 random PID sets</a:t>
            </a:r>
          </a:p>
          <a:p>
            <a:pPr marL="829768" lvl="1" indent="-414884" algn="l">
              <a:lnSpc>
                <a:spcPts val="5380"/>
              </a:lnSpc>
              <a:buFont typeface="Arial"/>
              <a:buChar char="•"/>
            </a:pPr>
            <a:r>
              <a:rPr lang="en-US" sz="3843" dirty="0">
                <a:solidFill>
                  <a:srgbClr val="0166C2"/>
                </a:solidFill>
                <a:latin typeface="Nourd"/>
                <a:ea typeface="Nourd"/>
                <a:cs typeface="Nourd"/>
                <a:sym typeface="Nourd"/>
              </a:rPr>
              <a:t>PID combination with maximum predicted power selected as optimal</a:t>
            </a:r>
          </a:p>
          <a:p>
            <a:pPr algn="l">
              <a:lnSpc>
                <a:spcPts val="5380"/>
              </a:lnSpc>
            </a:pPr>
            <a:endParaRPr lang="en-US" sz="3843" dirty="0">
              <a:solidFill>
                <a:srgbClr val="0166C2"/>
              </a:solidFill>
              <a:latin typeface="Nourd"/>
              <a:ea typeface="Nourd"/>
              <a:cs typeface="Nourd"/>
              <a:sym typeface="Nour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144000" y="-2201124"/>
            <a:ext cx="11772900" cy="6143313"/>
          </a:xfrm>
          <a:custGeom>
            <a:avLst/>
            <a:gdLst/>
            <a:ahLst/>
            <a:cxnLst/>
            <a:rect l="l" t="t" r="r" b="b"/>
            <a:pathLst>
              <a:path w="11772900" h="6143313">
                <a:moveTo>
                  <a:pt x="0" y="0"/>
                </a:moveTo>
                <a:lnTo>
                  <a:pt x="11772900" y="0"/>
                </a:lnTo>
                <a:lnTo>
                  <a:pt x="11772900" y="6143314"/>
                </a:lnTo>
                <a:lnTo>
                  <a:pt x="0" y="61433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6288941" y="8081358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-819150" y="-1605811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5514975" y="6838101"/>
            <a:ext cx="11772900" cy="6143313"/>
          </a:xfrm>
          <a:custGeom>
            <a:avLst/>
            <a:gdLst/>
            <a:ahLst/>
            <a:cxnLst/>
            <a:rect l="l" t="t" r="r" b="b"/>
            <a:pathLst>
              <a:path w="11772900" h="6143313">
                <a:moveTo>
                  <a:pt x="0" y="0"/>
                </a:moveTo>
                <a:lnTo>
                  <a:pt x="11772900" y="0"/>
                </a:lnTo>
                <a:lnTo>
                  <a:pt x="11772900" y="6143314"/>
                </a:lnTo>
                <a:lnTo>
                  <a:pt x="0" y="61433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6734259" y="8735911"/>
            <a:ext cx="1402847" cy="1402847"/>
          </a:xfrm>
          <a:custGeom>
            <a:avLst/>
            <a:gdLst/>
            <a:ahLst/>
            <a:cxnLst/>
            <a:rect l="l" t="t" r="r" b="b"/>
            <a:pathLst>
              <a:path w="1402847" h="1402847">
                <a:moveTo>
                  <a:pt x="0" y="0"/>
                </a:moveTo>
                <a:lnTo>
                  <a:pt x="1402847" y="0"/>
                </a:lnTo>
                <a:lnTo>
                  <a:pt x="1402847" y="1402847"/>
                </a:lnTo>
                <a:lnTo>
                  <a:pt x="0" y="140284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604698" y="650011"/>
            <a:ext cx="2690952" cy="1345476"/>
          </a:xfrm>
          <a:custGeom>
            <a:avLst/>
            <a:gdLst/>
            <a:ahLst/>
            <a:cxnLst/>
            <a:rect l="l" t="t" r="r" b="b"/>
            <a:pathLst>
              <a:path w="2690952" h="1345476">
                <a:moveTo>
                  <a:pt x="0" y="0"/>
                </a:moveTo>
                <a:lnTo>
                  <a:pt x="2690952" y="0"/>
                </a:lnTo>
                <a:lnTo>
                  <a:pt x="2690952" y="1345476"/>
                </a:lnTo>
                <a:lnTo>
                  <a:pt x="0" y="134547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-5514975" y="6838101"/>
            <a:ext cx="11772900" cy="6143313"/>
          </a:xfrm>
          <a:custGeom>
            <a:avLst/>
            <a:gdLst/>
            <a:ahLst/>
            <a:cxnLst/>
            <a:rect l="l" t="t" r="r" b="b"/>
            <a:pathLst>
              <a:path w="11772900" h="6143313">
                <a:moveTo>
                  <a:pt x="0" y="0"/>
                </a:moveTo>
                <a:lnTo>
                  <a:pt x="11772900" y="0"/>
                </a:lnTo>
                <a:lnTo>
                  <a:pt x="11772900" y="6143314"/>
                </a:lnTo>
                <a:lnTo>
                  <a:pt x="0" y="61433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5514975" y="6838101"/>
            <a:ext cx="11772900" cy="6143313"/>
          </a:xfrm>
          <a:custGeom>
            <a:avLst/>
            <a:gdLst/>
            <a:ahLst/>
            <a:cxnLst/>
            <a:rect l="l" t="t" r="r" b="b"/>
            <a:pathLst>
              <a:path w="11772900" h="6143313">
                <a:moveTo>
                  <a:pt x="0" y="0"/>
                </a:moveTo>
                <a:lnTo>
                  <a:pt x="11772900" y="0"/>
                </a:lnTo>
                <a:lnTo>
                  <a:pt x="11772900" y="6143314"/>
                </a:lnTo>
                <a:lnTo>
                  <a:pt x="0" y="61433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3688897" y="1814308"/>
            <a:ext cx="12600044" cy="7623027"/>
          </a:xfrm>
          <a:custGeom>
            <a:avLst/>
            <a:gdLst/>
            <a:ahLst/>
            <a:cxnLst/>
            <a:rect l="l" t="t" r="r" b="b"/>
            <a:pathLst>
              <a:path w="12600044" h="7623027">
                <a:moveTo>
                  <a:pt x="0" y="0"/>
                </a:moveTo>
                <a:lnTo>
                  <a:pt x="12600044" y="0"/>
                </a:lnTo>
                <a:lnTo>
                  <a:pt x="12600044" y="7623027"/>
                </a:lnTo>
                <a:lnTo>
                  <a:pt x="0" y="762302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2512564" y="280139"/>
            <a:ext cx="14952709" cy="1558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780"/>
              </a:lnSpc>
            </a:pPr>
            <a:r>
              <a:rPr lang="en-US" sz="9129" b="1">
                <a:solidFill>
                  <a:srgbClr val="0166C2"/>
                </a:solidFill>
                <a:latin typeface="Luktao Bold"/>
                <a:ea typeface="Luktao Bold"/>
                <a:cs typeface="Luktao Bold"/>
                <a:sym typeface="Luktao Bold"/>
              </a:rPr>
              <a:t>LOSS CURVE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144000" y="-2201124"/>
            <a:ext cx="11772900" cy="6143313"/>
          </a:xfrm>
          <a:custGeom>
            <a:avLst/>
            <a:gdLst/>
            <a:ahLst/>
            <a:cxnLst/>
            <a:rect l="l" t="t" r="r" b="b"/>
            <a:pathLst>
              <a:path w="11772900" h="6143313">
                <a:moveTo>
                  <a:pt x="0" y="0"/>
                </a:moveTo>
                <a:lnTo>
                  <a:pt x="11772900" y="0"/>
                </a:lnTo>
                <a:lnTo>
                  <a:pt x="11772900" y="6143314"/>
                </a:lnTo>
                <a:lnTo>
                  <a:pt x="0" y="61433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6288941" y="8081358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-819150" y="-1605811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3523509" y="478561"/>
            <a:ext cx="14952709" cy="1558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780"/>
              </a:lnSpc>
            </a:pPr>
            <a:r>
              <a:rPr lang="en-US" sz="9129" b="1">
                <a:solidFill>
                  <a:srgbClr val="0166C2"/>
                </a:solidFill>
                <a:latin typeface="Luktao Bold"/>
                <a:ea typeface="Luktao Bold"/>
                <a:cs typeface="Luktao Bold"/>
                <a:sym typeface="Luktao Bold"/>
              </a:rPr>
              <a:t>OPTIMIZATION RESULTS</a:t>
            </a:r>
          </a:p>
        </p:txBody>
      </p:sp>
      <p:sp>
        <p:nvSpPr>
          <p:cNvPr id="6" name="Freeform 6"/>
          <p:cNvSpPr/>
          <p:nvPr/>
        </p:nvSpPr>
        <p:spPr>
          <a:xfrm>
            <a:off x="-5514975" y="6838101"/>
            <a:ext cx="11772900" cy="6143313"/>
          </a:xfrm>
          <a:custGeom>
            <a:avLst/>
            <a:gdLst/>
            <a:ahLst/>
            <a:cxnLst/>
            <a:rect l="l" t="t" r="r" b="b"/>
            <a:pathLst>
              <a:path w="11772900" h="6143313">
                <a:moveTo>
                  <a:pt x="0" y="0"/>
                </a:moveTo>
                <a:lnTo>
                  <a:pt x="11772900" y="0"/>
                </a:lnTo>
                <a:lnTo>
                  <a:pt x="11772900" y="6143314"/>
                </a:lnTo>
                <a:lnTo>
                  <a:pt x="0" y="61433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6734259" y="8735911"/>
            <a:ext cx="1402847" cy="1402847"/>
          </a:xfrm>
          <a:custGeom>
            <a:avLst/>
            <a:gdLst/>
            <a:ahLst/>
            <a:cxnLst/>
            <a:rect l="l" t="t" r="r" b="b"/>
            <a:pathLst>
              <a:path w="1402847" h="1402847">
                <a:moveTo>
                  <a:pt x="0" y="0"/>
                </a:moveTo>
                <a:lnTo>
                  <a:pt x="1402847" y="0"/>
                </a:lnTo>
                <a:lnTo>
                  <a:pt x="1402847" y="1402847"/>
                </a:lnTo>
                <a:lnTo>
                  <a:pt x="0" y="140284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604698" y="650011"/>
            <a:ext cx="2690952" cy="1345476"/>
          </a:xfrm>
          <a:custGeom>
            <a:avLst/>
            <a:gdLst/>
            <a:ahLst/>
            <a:cxnLst/>
            <a:rect l="l" t="t" r="r" b="b"/>
            <a:pathLst>
              <a:path w="2690952" h="1345476">
                <a:moveTo>
                  <a:pt x="0" y="0"/>
                </a:moveTo>
                <a:lnTo>
                  <a:pt x="2690952" y="0"/>
                </a:lnTo>
                <a:lnTo>
                  <a:pt x="2690952" y="1345476"/>
                </a:lnTo>
                <a:lnTo>
                  <a:pt x="0" y="134547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5514975" y="6838101"/>
            <a:ext cx="11772900" cy="6143313"/>
          </a:xfrm>
          <a:custGeom>
            <a:avLst/>
            <a:gdLst/>
            <a:ahLst/>
            <a:cxnLst/>
            <a:rect l="l" t="t" r="r" b="b"/>
            <a:pathLst>
              <a:path w="11772900" h="6143313">
                <a:moveTo>
                  <a:pt x="0" y="0"/>
                </a:moveTo>
                <a:lnTo>
                  <a:pt x="11772900" y="0"/>
                </a:lnTo>
                <a:lnTo>
                  <a:pt x="11772900" y="6143314"/>
                </a:lnTo>
                <a:lnTo>
                  <a:pt x="0" y="61433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-5514975" y="6838101"/>
            <a:ext cx="11772900" cy="6143313"/>
          </a:xfrm>
          <a:custGeom>
            <a:avLst/>
            <a:gdLst/>
            <a:ahLst/>
            <a:cxnLst/>
            <a:rect l="l" t="t" r="r" b="b"/>
            <a:pathLst>
              <a:path w="11772900" h="6143313">
                <a:moveTo>
                  <a:pt x="0" y="0"/>
                </a:moveTo>
                <a:lnTo>
                  <a:pt x="11772900" y="0"/>
                </a:lnTo>
                <a:lnTo>
                  <a:pt x="11772900" y="6143314"/>
                </a:lnTo>
                <a:lnTo>
                  <a:pt x="0" y="61433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3768832" y="2442314"/>
            <a:ext cx="12364958" cy="4792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29768" lvl="1" indent="-414884" algn="l">
              <a:lnSpc>
                <a:spcPts val="5380"/>
              </a:lnSpc>
              <a:buFont typeface="Arial"/>
              <a:buChar char="•"/>
            </a:pPr>
            <a:r>
              <a:rPr lang="en-US" sz="3843" dirty="0">
                <a:solidFill>
                  <a:srgbClr val="0166C2"/>
                </a:solidFill>
                <a:latin typeface="Nourd"/>
                <a:ea typeface="Nourd"/>
                <a:cs typeface="Nourd"/>
                <a:sym typeface="Nourd"/>
              </a:rPr>
              <a:t>Optimized PID values led to a predicted power output 12.5% higher than original tuned PID</a:t>
            </a:r>
          </a:p>
          <a:p>
            <a:pPr marL="829768" lvl="1" indent="-414884" algn="l">
              <a:lnSpc>
                <a:spcPts val="5380"/>
              </a:lnSpc>
              <a:buFont typeface="Arial"/>
              <a:buChar char="•"/>
            </a:pPr>
            <a:r>
              <a:rPr lang="en-US" sz="3843" dirty="0">
                <a:solidFill>
                  <a:srgbClr val="0166C2"/>
                </a:solidFill>
                <a:latin typeface="Nourd"/>
                <a:ea typeface="Nourd"/>
                <a:cs typeface="Nourd"/>
                <a:sym typeface="Nourd"/>
              </a:rPr>
              <a:t>Simulation confirmed improved displacement tracking and increased velocity</a:t>
            </a:r>
          </a:p>
          <a:p>
            <a:pPr marL="829768" lvl="1" indent="-414884" algn="l">
              <a:lnSpc>
                <a:spcPts val="5380"/>
              </a:lnSpc>
              <a:buFont typeface="Arial"/>
              <a:buChar char="•"/>
            </a:pPr>
            <a:r>
              <a:rPr lang="en-US" sz="3843" dirty="0">
                <a:solidFill>
                  <a:srgbClr val="0166C2"/>
                </a:solidFill>
                <a:latin typeface="Nourd"/>
                <a:ea typeface="Nourd"/>
                <a:cs typeface="Nourd"/>
                <a:sym typeface="Nourd"/>
              </a:rPr>
              <a:t>ML-based optimization significantly reduced manual trial-and-error tuning</a:t>
            </a:r>
          </a:p>
          <a:p>
            <a:pPr algn="l">
              <a:lnSpc>
                <a:spcPts val="5380"/>
              </a:lnSpc>
            </a:pPr>
            <a:endParaRPr lang="en-US" sz="3843" dirty="0">
              <a:solidFill>
                <a:srgbClr val="0166C2"/>
              </a:solidFill>
              <a:latin typeface="Nourd"/>
              <a:ea typeface="Nourd"/>
              <a:cs typeface="Nourd"/>
              <a:sym typeface="Nourd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144000" y="-2201124"/>
            <a:ext cx="11772900" cy="6143313"/>
          </a:xfrm>
          <a:custGeom>
            <a:avLst/>
            <a:gdLst/>
            <a:ahLst/>
            <a:cxnLst/>
            <a:rect l="l" t="t" r="r" b="b"/>
            <a:pathLst>
              <a:path w="11772900" h="6143313">
                <a:moveTo>
                  <a:pt x="0" y="0"/>
                </a:moveTo>
                <a:lnTo>
                  <a:pt x="11772900" y="0"/>
                </a:lnTo>
                <a:lnTo>
                  <a:pt x="11772900" y="6143314"/>
                </a:lnTo>
                <a:lnTo>
                  <a:pt x="0" y="61433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6288941" y="8081358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-819150" y="-1605811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2128109" y="436877"/>
            <a:ext cx="14952709" cy="1558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780"/>
              </a:lnSpc>
            </a:pPr>
            <a:r>
              <a:rPr lang="en-US" sz="9129" b="1">
                <a:solidFill>
                  <a:srgbClr val="0166C2"/>
                </a:solidFill>
                <a:latin typeface="Luktao Bold"/>
                <a:ea typeface="Luktao Bold"/>
                <a:cs typeface="Luktao Bold"/>
                <a:sym typeface="Luktao Bold"/>
              </a:rPr>
              <a:t>CONCLUSION</a:t>
            </a:r>
          </a:p>
        </p:txBody>
      </p:sp>
      <p:sp>
        <p:nvSpPr>
          <p:cNvPr id="6" name="Freeform 6"/>
          <p:cNvSpPr/>
          <p:nvPr/>
        </p:nvSpPr>
        <p:spPr>
          <a:xfrm>
            <a:off x="-5514975" y="6838101"/>
            <a:ext cx="11772900" cy="6143313"/>
          </a:xfrm>
          <a:custGeom>
            <a:avLst/>
            <a:gdLst/>
            <a:ahLst/>
            <a:cxnLst/>
            <a:rect l="l" t="t" r="r" b="b"/>
            <a:pathLst>
              <a:path w="11772900" h="6143313">
                <a:moveTo>
                  <a:pt x="0" y="0"/>
                </a:moveTo>
                <a:lnTo>
                  <a:pt x="11772900" y="0"/>
                </a:lnTo>
                <a:lnTo>
                  <a:pt x="11772900" y="6143314"/>
                </a:lnTo>
                <a:lnTo>
                  <a:pt x="0" y="61433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6734259" y="8735911"/>
            <a:ext cx="1402847" cy="1402847"/>
          </a:xfrm>
          <a:custGeom>
            <a:avLst/>
            <a:gdLst/>
            <a:ahLst/>
            <a:cxnLst/>
            <a:rect l="l" t="t" r="r" b="b"/>
            <a:pathLst>
              <a:path w="1402847" h="1402847">
                <a:moveTo>
                  <a:pt x="0" y="0"/>
                </a:moveTo>
                <a:lnTo>
                  <a:pt x="1402847" y="0"/>
                </a:lnTo>
                <a:lnTo>
                  <a:pt x="1402847" y="1402847"/>
                </a:lnTo>
                <a:lnTo>
                  <a:pt x="0" y="140284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604698" y="650011"/>
            <a:ext cx="2690952" cy="1345476"/>
          </a:xfrm>
          <a:custGeom>
            <a:avLst/>
            <a:gdLst/>
            <a:ahLst/>
            <a:cxnLst/>
            <a:rect l="l" t="t" r="r" b="b"/>
            <a:pathLst>
              <a:path w="2690952" h="1345476">
                <a:moveTo>
                  <a:pt x="0" y="0"/>
                </a:moveTo>
                <a:lnTo>
                  <a:pt x="2690952" y="0"/>
                </a:lnTo>
                <a:lnTo>
                  <a:pt x="2690952" y="1345476"/>
                </a:lnTo>
                <a:lnTo>
                  <a:pt x="0" y="134547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5514975" y="6838101"/>
            <a:ext cx="11772900" cy="6143313"/>
          </a:xfrm>
          <a:custGeom>
            <a:avLst/>
            <a:gdLst/>
            <a:ahLst/>
            <a:cxnLst/>
            <a:rect l="l" t="t" r="r" b="b"/>
            <a:pathLst>
              <a:path w="11772900" h="6143313">
                <a:moveTo>
                  <a:pt x="0" y="0"/>
                </a:moveTo>
                <a:lnTo>
                  <a:pt x="11772900" y="0"/>
                </a:lnTo>
                <a:lnTo>
                  <a:pt x="11772900" y="6143314"/>
                </a:lnTo>
                <a:lnTo>
                  <a:pt x="0" y="61433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-5514975" y="6838101"/>
            <a:ext cx="11772900" cy="6143313"/>
          </a:xfrm>
          <a:custGeom>
            <a:avLst/>
            <a:gdLst/>
            <a:ahLst/>
            <a:cxnLst/>
            <a:rect l="l" t="t" r="r" b="b"/>
            <a:pathLst>
              <a:path w="11772900" h="6143313">
                <a:moveTo>
                  <a:pt x="0" y="0"/>
                </a:moveTo>
                <a:lnTo>
                  <a:pt x="11772900" y="0"/>
                </a:lnTo>
                <a:lnTo>
                  <a:pt x="11772900" y="6143314"/>
                </a:lnTo>
                <a:lnTo>
                  <a:pt x="0" y="61433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3295650" y="2082397"/>
            <a:ext cx="12364958" cy="6055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29768" lvl="1" indent="-414884" algn="l">
              <a:lnSpc>
                <a:spcPts val="5380"/>
              </a:lnSpc>
              <a:buFont typeface="Arial"/>
              <a:buChar char="•"/>
            </a:pPr>
            <a:r>
              <a:rPr lang="en-US" sz="3843">
                <a:solidFill>
                  <a:srgbClr val="0166C2"/>
                </a:solidFill>
                <a:latin typeface="Nourd"/>
                <a:ea typeface="Nourd"/>
                <a:cs typeface="Nourd"/>
                <a:sym typeface="Nourd"/>
              </a:rPr>
              <a:t>Successfully integrated control system simulation with machine learning-based optimization</a:t>
            </a:r>
          </a:p>
          <a:p>
            <a:pPr marL="829768" lvl="1" indent="-414884" algn="l">
              <a:lnSpc>
                <a:spcPts val="5380"/>
              </a:lnSpc>
              <a:buFont typeface="Arial"/>
              <a:buChar char="•"/>
            </a:pPr>
            <a:r>
              <a:rPr lang="en-US" sz="3843">
                <a:solidFill>
                  <a:srgbClr val="0166C2"/>
                </a:solidFill>
                <a:latin typeface="Nourd"/>
                <a:ea typeface="Nourd"/>
                <a:cs typeface="Nourd"/>
                <a:sym typeface="Nourd"/>
              </a:rPr>
              <a:t>Demonstrated a practical and scalable approach for improving WEC performance</a:t>
            </a:r>
          </a:p>
          <a:p>
            <a:pPr marL="829768" lvl="1" indent="-414884" algn="l">
              <a:lnSpc>
                <a:spcPts val="5380"/>
              </a:lnSpc>
              <a:buFont typeface="Arial"/>
              <a:buChar char="•"/>
            </a:pPr>
            <a:r>
              <a:rPr lang="en-US" sz="3843">
                <a:solidFill>
                  <a:srgbClr val="0166C2"/>
                </a:solidFill>
                <a:latin typeface="Nourd"/>
                <a:ea typeface="Nourd"/>
                <a:cs typeface="Nourd"/>
                <a:sym typeface="Nourd"/>
              </a:rPr>
              <a:t>Framework is extendable to other renewable energy systems with dynamic parameters</a:t>
            </a:r>
          </a:p>
          <a:p>
            <a:pPr marL="829768" lvl="1" indent="-414884" algn="l">
              <a:lnSpc>
                <a:spcPts val="5380"/>
              </a:lnSpc>
              <a:buFont typeface="Arial"/>
              <a:buChar char="•"/>
            </a:pPr>
            <a:r>
              <a:rPr lang="en-US" sz="3843">
                <a:solidFill>
                  <a:srgbClr val="0166C2"/>
                </a:solidFill>
                <a:latin typeface="Nourd"/>
                <a:ea typeface="Nourd"/>
                <a:cs typeface="Nourd"/>
                <a:sym typeface="Nourd"/>
              </a:rPr>
              <a:t>Future work: include wave variability, environmental damping, and real-time PID tuning</a:t>
            </a:r>
          </a:p>
          <a:p>
            <a:pPr algn="l">
              <a:lnSpc>
                <a:spcPts val="5380"/>
              </a:lnSpc>
            </a:pPr>
            <a:endParaRPr lang="en-US" sz="3843">
              <a:solidFill>
                <a:srgbClr val="0166C2"/>
              </a:solidFill>
              <a:latin typeface="Nourd"/>
              <a:ea typeface="Nourd"/>
              <a:cs typeface="Nourd"/>
              <a:sym typeface="Nour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552</Words>
  <Application>Microsoft Office PowerPoint</Application>
  <PresentationFormat>Custom</PresentationFormat>
  <Paragraphs>59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Nourd Bold</vt:lpstr>
      <vt:lpstr>Nourd</vt:lpstr>
      <vt:lpstr>Calibri</vt:lpstr>
      <vt:lpstr>Luktao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Wave Energy Converter Control System with Vibration and Mechanical Control</dc:title>
  <cp:lastModifiedBy>Ankur Singh</cp:lastModifiedBy>
  <cp:revision>6</cp:revision>
  <dcterms:created xsi:type="dcterms:W3CDTF">2006-08-16T00:00:00Z</dcterms:created>
  <dcterms:modified xsi:type="dcterms:W3CDTF">2025-05-15T15:39:30Z</dcterms:modified>
  <dc:identifier>DAGnfUty9R8</dc:identifier>
</cp:coreProperties>
</file>